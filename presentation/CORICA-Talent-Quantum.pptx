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20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6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63838"/>
          </a:solidFill>
          <a:ln/>
        </p:spPr>
        <p:txBody>
          <a:bodyPr/>
          <a:p/>
        </p:txBody>
      </p:sp>
      <p:pic>
        <p:nvPicPr>
          <p:cNvPr id="3" name="Image 0" descr="/tmp/claude-1000/-home-mamadbah-projects-quantum/61842f09-b3f1-4925-8524-c48ab9ecbb53/scratchpad/deck/logo-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40080"/>
            <a:ext cx="1106424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2286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RÉUNION PROJET  ·  07 JUILLET 2026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66928" y="26517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TALENT </a:t>
            </a:r>
            <a:pPr indent="0" marL="0">
              <a:buNone/>
            </a:pPr>
            <a:r>
              <a:rPr lang="en-US" sz="6000" b="1" spc="1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566928" y="3886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D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prototype à l'application de production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66928" y="4480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A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 ·  Architecture cible  ·  Sécurité &amp; RGPD  ·  Direction visuelle</a:t>
            </a:r>
            <a:endParaRPr lang="en-US" sz="1400" dirty="0"/>
          </a:p>
        </p:txBody>
      </p:sp>
      <p:pic>
        <p:nvPicPr>
          <p:cNvPr id="8" name="Image 1" descr="/tmp/claude-1000/-home-mamadbah-projects-quantum/61842f09-b3f1-4925-8524-c48ab9ecbb53/scratchpad/deck/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02552"/>
            <a:ext cx="1218895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quoi parle-t-on ?</a:t>
            </a:r>
            <a:endParaRPr lang="en-US" sz="2900" dirty="0"/>
          </a:p>
        </p:txBody>
      </p:sp>
      <p:pic>
        <p:nvPicPr>
          <p:cNvPr id="4" name="Image 0" descr="/tmp/claude-1000/-home-mamadbah-projects-quantum/61842f09-b3f1-4925-8524-c48ab9ecbb53/scratchpad/deck/logo-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420624"/>
            <a:ext cx="59436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554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CORICA Talent Quantum est l'application RH de gestion de la performance et des talents : évaluation par objectifs, matrice 9-box, compétences et plans de développement.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66928" y="2286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Déployée sur intranet, à travers 8 pays d'Afrique de l'Ouest et sur les sites miniers — du technicien de terrain au siège.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66928" y="2971800"/>
            <a:ext cx="1105509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32688" y="3127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32688" y="3675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métier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47288" y="3200400"/>
            <a:ext cx="0" cy="640080"/>
          </a:xfrm>
          <a:prstGeom prst="line">
            <a:avLst/>
          </a:prstGeom>
          <a:noFill/>
          <a:ln w="12700">
            <a:solidFill>
              <a:srgbClr val="E7E2D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675888" y="3127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675888" y="3675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90488" y="3200400"/>
            <a:ext cx="0" cy="640080"/>
          </a:xfrm>
          <a:prstGeom prst="line">
            <a:avLst/>
          </a:prstGeom>
          <a:noFill/>
          <a:ln w="12700">
            <a:solidFill>
              <a:srgbClr val="E7E2DB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419088" y="3127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~5 000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419088" y="3675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933688" y="3200400"/>
            <a:ext cx="0" cy="640080"/>
          </a:xfrm>
          <a:prstGeom prst="line">
            <a:avLst/>
          </a:prstGeom>
          <a:noFill/>
          <a:ln w="12700">
            <a:solidFill>
              <a:srgbClr val="E7E2DB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162288" y="31272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9162288" y="3675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66928" y="4370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CE SOIR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6928" y="4681728"/>
            <a:ext cx="35204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22960" y="4910328"/>
            <a:ext cx="457200" cy="457200"/>
          </a:xfrm>
          <a:prstGeom prst="ellipse">
            <a:avLst/>
          </a:prstGeom>
          <a:solidFill>
            <a:srgbClr val="463838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2296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435608" y="46817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de l'existant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315968" y="4681728"/>
            <a:ext cx="35204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4572000" y="4910328"/>
            <a:ext cx="457200" cy="457200"/>
          </a:xfrm>
          <a:prstGeom prst="ellipse">
            <a:avLst/>
          </a:prstGeom>
          <a:solidFill>
            <a:srgbClr val="46383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457200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184648" y="46817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sécurité &amp; RGPD cibles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065008" y="4681728"/>
            <a:ext cx="35204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8321040" y="4910328"/>
            <a:ext cx="457200" cy="457200"/>
          </a:xfrm>
          <a:prstGeom prst="ellipse">
            <a:avLst/>
          </a:prstGeom>
          <a:solidFill>
            <a:srgbClr val="46383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832104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8933688" y="46817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visuelle (maquettes)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CORICA Talent Quantum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964424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  ·   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L'EXISTANT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prototype cliquable de haute fidélité</a:t>
            </a:r>
            <a:endParaRPr lang="en-US" sz="2900" dirty="0"/>
          </a:p>
        </p:txBody>
      </p:sp>
      <p:pic>
        <p:nvPicPr>
          <p:cNvPr id="4" name="Image 0" descr="/tmp/claude-1000/-home-mamadbah-projects-quantum/61842f09-b3f1-4925-8524-c48ab9ecbb53/scratchpad/deck/logo-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420624"/>
            <a:ext cx="59436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6002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L'UX par rôle et la modélisation métier — 9-box, compétences, workflow d'évaluation — sont abouties et directement réutilisables. Ce sont les fondations techniques (backend, base de données, sécurité) qui restent à construire.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66928" y="269748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41248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~70 %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59536" y="3364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réutilisable comme blueprint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269748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90288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~19 000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608576" y="3364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code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65008" y="2697480"/>
            <a:ext cx="35204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339328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357616" y="3364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écrans &amp; composants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4114800"/>
            <a:ext cx="11055096" cy="1371600"/>
          </a:xfrm>
          <a:prstGeom prst="roundRect">
            <a:avLst>
              <a:gd name="adj" fmla="val 5333"/>
            </a:avLst>
          </a:prstGeom>
          <a:solidFill>
            <a:srgbClr val="463838"/>
          </a:solidFill>
          <a:ln/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66928" y="4114800"/>
            <a:ext cx="109728" cy="1371600"/>
          </a:xfrm>
          <a:prstGeom prst="rect">
            <a:avLst/>
          </a:prstGeom>
          <a:solidFill>
            <a:srgbClr val="F26322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32688" y="42976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: excellent point de départ — mais pas déployable en production en l'état.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32688" y="48280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D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précisément le rôle d'un prototype : valider l'idée et les parcours avant d'industrialiser. La valeur produite est réelle et on la garde.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CORICA Talent Quantum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64424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  ·   4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principaux défauts, en bref</a:t>
            </a:r>
            <a:endParaRPr lang="en-US" sz="2900" dirty="0"/>
          </a:p>
        </p:txBody>
      </p:sp>
      <p:pic>
        <p:nvPicPr>
          <p:cNvPr id="4" name="Image 0" descr="/tmp/claude-1000/-home-mamadbah-projects-quantum/61842f09-b3f1-4925-8524-c48ab9ecbb53/scratchpad/deck/logo-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420624"/>
            <a:ext cx="59436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691640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37944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35024" y="165506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backend ni de base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335024" y="196596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en mémoire, perdues au redémarrage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236208" y="1691640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83794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04304" y="165506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factice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7004304" y="196596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vérification réelle d'identité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66928" y="2715768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86207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35024" y="267919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d'accès côté navigateur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1335024" y="2990088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Contournable — tout rôle accessible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236208" y="2715768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86207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04304" y="267919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 externes (CDN)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7004304" y="2990088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Incompatibles intranet / air-gap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66928" y="3739896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88620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35024" y="370332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pagination des listes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1335024" y="401421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tient pas à l'échelle de 5 000 employés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6236208" y="3739896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886200"/>
            <a:ext cx="274320" cy="27432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004304" y="370332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test, pas d'i18n</a:t>
            </a:r>
            <a:endParaRPr lang="en-US" sz="1450" dirty="0"/>
          </a:p>
        </p:txBody>
      </p:sp>
      <p:sp>
        <p:nvSpPr>
          <p:cNvPr id="28" name="Text 19"/>
          <p:cNvSpPr/>
          <p:nvPr/>
        </p:nvSpPr>
        <p:spPr>
          <a:xfrm>
            <a:off x="7004304" y="401421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et multi-langue à mettre en place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566928" y="5074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technique normale d'un prototype — rien d'irrécupérable, tout est cadré ci-après.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CORICA Talent Quantum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7964424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  ·   5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 identifiés — à cadrer, pas à dramatiser</a:t>
            </a:r>
            <a:endParaRPr lang="en-US" sz="2900" dirty="0"/>
          </a:p>
        </p:txBody>
      </p:sp>
      <p:pic>
        <p:nvPicPr>
          <p:cNvPr id="4" name="Image 0" descr="/tmp/claude-1000/-home-mamadbah-projects-quantum/61842f09-b3f1-4925-8524-c48ab9ecbb53/scratchpad/deck/logo-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420624"/>
            <a:ext cx="59436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783080"/>
            <a:ext cx="182880" cy="182880"/>
          </a:xfrm>
          <a:prstGeom prst="ellipse">
            <a:avLst/>
          </a:prstGeom>
          <a:solidFill>
            <a:srgbClr val="C0492B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024128" y="168249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Confidentialité : tout rôle accessible sans contrôle réel côté serveur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12648" y="2350008"/>
            <a:ext cx="182880" cy="182880"/>
          </a:xfrm>
          <a:prstGeom prst="ellipse">
            <a:avLst/>
          </a:prstGeom>
          <a:solidFill>
            <a:srgbClr val="C0492B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24128" y="224942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secret (clé API) présent dans l'archive — à révoquer / roter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2648" y="2916936"/>
            <a:ext cx="182880" cy="182880"/>
          </a:xfrm>
          <a:prstGeom prst="ellipse">
            <a:avLst/>
          </a:prstGeom>
          <a:solidFill>
            <a:srgbClr val="C68A2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024128" y="28163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non persistées — risque de perte et d'incohérence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2648" y="3483864"/>
            <a:ext cx="182880" cy="182880"/>
          </a:xfrm>
          <a:prstGeom prst="ellipse">
            <a:avLst/>
          </a:prstGeom>
          <a:solidFill>
            <a:srgbClr val="C68A2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024128" y="3383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via tunnels (ngrok/cloudflared) — à ramener dans la gouvernance IT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12648" y="4050792"/>
            <a:ext cx="182880" cy="182880"/>
          </a:xfrm>
          <a:prstGeom prst="ellipse">
            <a:avLst/>
          </a:prstGeom>
          <a:solidFill>
            <a:srgbClr val="C68A2E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24128" y="39502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 à construire (journalisation, chiffrement, rétention)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12648" y="4617720"/>
            <a:ext cx="182880" cy="182880"/>
          </a:xfrm>
          <a:prstGeom prst="ellipse">
            <a:avLst/>
          </a:prstGeom>
          <a:solidFill>
            <a:srgbClr val="C68A2E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024128" y="451713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 à mettre à jour (vulnérabilités connues, corrigeables)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66928" y="5257800"/>
            <a:ext cx="11055096" cy="640080"/>
          </a:xfrm>
          <a:prstGeom prst="roundRect">
            <a:avLst>
              <a:gd name="adj" fmla="val 8571"/>
            </a:avLst>
          </a:prstGeom>
          <a:solidFill>
            <a:srgbClr val="F0EAE2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41248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ces points sont corrigeables — ils définissent simplement le périmètre du chantier à venir.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CORICA Talent Quantum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64424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  ·   6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Garder la valeur, refaire les fondations</a:t>
            </a:r>
            <a:endParaRPr lang="en-US" sz="2900" dirty="0"/>
          </a:p>
        </p:txBody>
      </p:sp>
      <p:pic>
        <p:nvPicPr>
          <p:cNvPr id="4" name="Image 0" descr="/tmp/claude-1000/-home-mamadbah-projects-quantum/61842f09-b3f1-4925-8524-c48ab9ecbb53/scratchpad/deck/logo-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420624"/>
            <a:ext cx="59436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73736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66928" y="1737360"/>
            <a:ext cx="3520440" cy="128016"/>
          </a:xfrm>
          <a:prstGeom prst="rect">
            <a:avLst/>
          </a:prstGeom>
          <a:solidFill>
            <a:srgbClr val="6E8B4E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86968" y="2148840"/>
            <a:ext cx="777240" cy="777240"/>
          </a:xfrm>
          <a:prstGeom prst="ellipse">
            <a:avLst/>
          </a:prstGeom>
          <a:solidFill>
            <a:srgbClr val="6E8B4E"/>
          </a:solidFill>
          <a:ln/>
        </p:spPr>
        <p:txBody>
          <a:bodyPr/>
          <a:p/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350008"/>
            <a:ext cx="374904" cy="374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6968" y="3063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8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86968" y="33101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fonctionnalités &amp; le métier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886968" y="37673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9-box, compétences, workflow d'évaluation, multi-rôle.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15968" y="173736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4315968" y="1737360"/>
            <a:ext cx="3520440" cy="128016"/>
          </a:xfrm>
          <a:prstGeom prst="rect">
            <a:avLst/>
          </a:prstGeom>
          <a:solidFill>
            <a:srgbClr val="F26322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636008" y="2148840"/>
            <a:ext cx="777240" cy="777240"/>
          </a:xfrm>
          <a:prstGeom prst="ellipse">
            <a:avLst/>
          </a:prstGeom>
          <a:solidFill>
            <a:srgbClr val="F26322"/>
          </a:solidFill>
          <a:ln/>
        </p:spPr>
        <p:txBody>
          <a:bodyPr/>
          <a:p/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2350008"/>
            <a:ext cx="374904" cy="3749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36008" y="3063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REFAIRE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636008" y="33101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L'interface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636008" y="37673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pro, plus belle, aux couleurs CORICA.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065008" y="173736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8065008" y="1737360"/>
            <a:ext cx="3520440" cy="128016"/>
          </a:xfrm>
          <a:prstGeom prst="rect">
            <a:avLst/>
          </a:prstGeom>
          <a:solidFill>
            <a:srgbClr val="463838"/>
          </a:solidFill>
          <a:ln/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385048" y="2148840"/>
            <a:ext cx="777240" cy="777240"/>
          </a:xfrm>
          <a:prstGeom prst="ellipse">
            <a:avLst/>
          </a:prstGeom>
          <a:solidFill>
            <a:srgbClr val="463838"/>
          </a:solidFill>
          <a:ln/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16" y="2350008"/>
            <a:ext cx="374904" cy="37490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85048" y="3063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385048" y="33101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vrai backend sécurisé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8385048" y="37673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autorisation serveur, base de données, API.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66928" y="4800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tout jeter, ni recustomiser l'existant : une approche hybride qui préserve le travail déjà fait.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CORICA Talent Quantum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7964424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  ·   7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base moderne, sécurisée, on-premise</a:t>
            </a:r>
            <a:endParaRPr lang="en-US" sz="2900" dirty="0"/>
          </a:p>
        </p:txBody>
      </p:sp>
      <p:pic>
        <p:nvPicPr>
          <p:cNvPr id="4" name="Image 0" descr="/tmp/claude-1000/-home-mamadbah-projects-quantum/61842f09-b3f1-4925-8524-c48ab9ecbb53/scratchpad/deck/logo-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420624"/>
            <a:ext cx="59436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1783080"/>
            <a:ext cx="32004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143000" y="2057400"/>
            <a:ext cx="640080" cy="640080"/>
          </a:xfrm>
          <a:prstGeom prst="ellipse">
            <a:avLst/>
          </a:prstGeom>
          <a:solidFill>
            <a:srgbClr val="463838"/>
          </a:solidFill>
          <a:ln/>
        </p:spPr>
        <p:txBody>
          <a:bodyPr/>
          <a:p/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21284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920240" y="224942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/ React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143000" y="2880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L'UI existante, refondue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2377440"/>
            <a:ext cx="365760" cy="3657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1783080"/>
            <a:ext cx="32004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5120640" y="2057400"/>
            <a:ext cx="640080" cy="640080"/>
          </a:xfrm>
          <a:prstGeom prst="ellipse">
            <a:avLst/>
          </a:prstGeom>
          <a:solidFill>
            <a:srgbClr val="F26322"/>
          </a:solidFill>
          <a:ln/>
        </p:spPr>
        <p:txBody>
          <a:bodyPr/>
          <a:p/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88" y="221284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9788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897880" y="224942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(Python)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5120640" y="2880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métier + RBAC</a:t>
            </a:r>
            <a:endParaRPr lang="en-US" sz="11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2377440"/>
            <a:ext cx="365760" cy="36576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8823960" y="1783080"/>
            <a:ext cx="320040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3"/>
          <p:cNvSpPr/>
          <p:nvPr/>
        </p:nvSpPr>
        <p:spPr>
          <a:xfrm>
            <a:off x="9098280" y="2057400"/>
            <a:ext cx="640080" cy="640080"/>
          </a:xfrm>
          <a:prstGeom prst="ellipse">
            <a:avLst/>
          </a:prstGeom>
          <a:solidFill>
            <a:srgbClr val="463838"/>
          </a:solidFill>
          <a:ln/>
        </p:spPr>
        <p:txBody>
          <a:bodyPr/>
          <a:p/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3728" y="2212848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87552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9875520" y="224942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550" dirty="0"/>
          </a:p>
        </p:txBody>
      </p:sp>
      <p:sp>
        <p:nvSpPr>
          <p:cNvPr id="24" name="Text 16"/>
          <p:cNvSpPr/>
          <p:nvPr/>
        </p:nvSpPr>
        <p:spPr>
          <a:xfrm>
            <a:off x="9098280" y="2880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réelle + audit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566928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DÉCISIONS CLÉS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566928" y="420624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F0EAE2"/>
          </a:solidFill>
          <a:ln w="12700">
            <a:solidFill>
              <a:srgbClr val="E7E2DB"/>
            </a:solidFill>
            <a:prstDash val="solid"/>
          </a:ln>
        </p:spPr>
        <p:txBody>
          <a:bodyPr/>
          <a:p/>
        </p:txBody>
      </p:sp>
      <p:sp>
        <p:nvSpPr>
          <p:cNvPr id="27" name="Text 19"/>
          <p:cNvSpPr/>
          <p:nvPr/>
        </p:nvSpPr>
        <p:spPr>
          <a:xfrm>
            <a:off x="566928" y="4206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3355848" y="420624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F0EAE2"/>
          </a:solidFill>
          <a:ln w="12700">
            <a:solidFill>
              <a:srgbClr val="E7E2DB"/>
            </a:solidFill>
            <a:prstDash val="solid"/>
          </a:ln>
        </p:spPr>
        <p:txBody>
          <a:bodyPr/>
          <a:p/>
        </p:txBody>
      </p:sp>
      <p:sp>
        <p:nvSpPr>
          <p:cNvPr id="29" name="Text 21"/>
          <p:cNvSpPr/>
          <p:nvPr/>
        </p:nvSpPr>
        <p:spPr>
          <a:xfrm>
            <a:off x="3355848" y="4206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6144768" y="420624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F0EAE2"/>
          </a:solidFill>
          <a:ln w="12700">
            <a:solidFill>
              <a:srgbClr val="E7E2DB"/>
            </a:solidFill>
            <a:prstDash val="solid"/>
          </a:ln>
        </p:spPr>
        <p:txBody>
          <a:bodyPr/>
          <a:p/>
        </p:txBody>
      </p:sp>
      <p:sp>
        <p:nvSpPr>
          <p:cNvPr id="31" name="Text 23"/>
          <p:cNvSpPr/>
          <p:nvPr/>
        </p:nvSpPr>
        <p:spPr>
          <a:xfrm>
            <a:off x="6144768" y="4206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mot de passe hashé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8933688" y="420624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F0EAE2"/>
          </a:solidFill>
          <a:ln w="12700">
            <a:solidFill>
              <a:srgbClr val="E7E2DB"/>
            </a:solidFill>
            <a:prstDash val="solid"/>
          </a:ln>
        </p:spPr>
        <p:txBody>
          <a:bodyPr/>
          <a:p/>
        </p:txBody>
      </p:sp>
      <p:sp>
        <p:nvSpPr>
          <p:cNvPr id="33" name="Text 25"/>
          <p:cNvSpPr/>
          <p:nvPr/>
        </p:nvSpPr>
        <p:spPr>
          <a:xfrm>
            <a:off x="8933688" y="42062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66928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Monolithe modulaire · dimension pays/tenant · conteneurs on-premise.   </a:t>
            </a:r>
            <a:pPr indent="0" marL="0">
              <a:buNone/>
            </a:pPr>
            <a:r>
              <a:rPr lang="en-US" sz="1250" b="1" i="1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 rapidité de développement + terrain naturel des futures fonctions IA-RH.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CORICA Talent Quantum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7964424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 ·   8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sécurité intégrée dès maintenant</a:t>
            </a:r>
            <a:endParaRPr lang="en-US" sz="2900" dirty="0"/>
          </a:p>
        </p:txBody>
      </p:sp>
      <p:pic>
        <p:nvPicPr>
          <p:cNvPr id="4" name="Image 0" descr="/tmp/claude-1000/-home-mamadbah-projects-quantum/61842f09-b3f1-4925-8524-c48ab9ecbb53/scratchpad/deck/logo-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420624"/>
            <a:ext cx="59436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691640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37944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35024" y="165506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appliqué côté serveur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335024" y="196596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du contrôle d'accès dans le navigateur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236208" y="1691640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83794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04304" y="165506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Mots de passe hashés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7004304" y="196596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&amp; cookies sécurisés (httpOnly)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66928" y="2715768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86207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35024" y="267919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gestion des secrets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1335024" y="2990088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Entrées validées, secrets hors du code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236208" y="2715768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86207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04304" y="267919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d'audit des accès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7004304" y="2990088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— exigence RGPD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66928" y="3739896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88620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35024" y="370332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GitHub Actions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1335024" y="401421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SAST / SCA / secrets à chaque commit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6236208" y="3739896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886200"/>
            <a:ext cx="274320" cy="27432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004304" y="370332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 auto-hébergées</a:t>
            </a:r>
            <a:endParaRPr lang="en-US" sz="1450" dirty="0"/>
          </a:p>
        </p:txBody>
      </p:sp>
      <p:sp>
        <p:nvSpPr>
          <p:cNvPr id="28" name="Text 19"/>
          <p:cNvSpPr/>
          <p:nvPr/>
        </p:nvSpPr>
        <p:spPr>
          <a:xfrm>
            <a:off x="7004304" y="401421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fuite vers des CDN externes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566928" y="5029200"/>
            <a:ext cx="11055096" cy="594360"/>
          </a:xfrm>
          <a:prstGeom prst="roundRect">
            <a:avLst>
              <a:gd name="adj" fmla="val 9231"/>
            </a:avLst>
          </a:prstGeom>
          <a:solidFill>
            <a:srgbClr val="463838"/>
          </a:solidFill>
          <a:ln/>
        </p:spPr>
        <p:txBody>
          <a:bodyPr/>
          <a:p/>
        </p:txBody>
      </p:sp>
      <p:sp>
        <p:nvSpPr>
          <p:cNvPr id="30" name="Text 21"/>
          <p:cNvSpPr/>
          <p:nvPr/>
        </p:nvSpPr>
        <p:spPr>
          <a:xfrm>
            <a:off x="841248" y="50292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« by design » — construite dès la phase de développement, pas ajoutée à la fin.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CORICA Talent Quantum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7964424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  ·   9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 &amp; cadre légal multi-pays</a:t>
            </a:r>
            <a:endParaRPr lang="en-US" sz="2900" dirty="0"/>
          </a:p>
        </p:txBody>
      </p:sp>
      <p:pic>
        <p:nvPicPr>
          <p:cNvPr id="4" name="Image 0" descr="/tmp/claude-1000/-home-mamadbah-projects-quantum/61842f09-b3f1-4925-8524-c48ab9ecbb53/scratchpad/deck/logo-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420624"/>
            <a:ext cx="59436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645920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92224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35024" y="1609344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Socle RGPD-compatible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335024" y="1920240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Couvre les 8-10 juridictions, puis formalités locales par pays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66928" y="2432304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578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35024" y="2395728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légale = contrat de travail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335024" y="2706624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Le consentement n'est PAS valable entre employeur et salarié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66928" y="3218688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36499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35024" y="3182112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Transferts transfrontaliers = risque n°1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1335024" y="3493008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pays dans les données + accord de transfert intra-groupe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66928" y="4005072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151376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35024" y="3968496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Droit d'accès du salarié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1335024" y="4279392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peut consulter sa propre évaluation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66928" y="4791456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93776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35024" y="4754880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Sanctions lourdes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1335024" y="5065776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Cameroun : jusqu'à 1 milliard FCFA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CORICA Talent Quantum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7964424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  ·   10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 · PHASE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Office 365 — après validation terrain</a:t>
            </a:r>
            <a:endParaRPr lang="en-US" sz="2900" dirty="0"/>
          </a:p>
        </p:txBody>
      </p:sp>
      <p:pic>
        <p:nvPicPr>
          <p:cNvPr id="4" name="Image 0" descr="/tmp/claude-1000/-home-mamadbah-projects-quantum/61842f09-b3f1-4925-8524-c48ab9ecbb53/scratchpad/deck/logo-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420624"/>
            <a:ext cx="59436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828800"/>
            <a:ext cx="31089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768096" y="2002536"/>
            <a:ext cx="521208" cy="521208"/>
          </a:xfrm>
          <a:prstGeom prst="ellipse">
            <a:avLst/>
          </a:prstGeom>
          <a:solidFill>
            <a:srgbClr val="463838"/>
          </a:solidFill>
          <a:ln/>
        </p:spPr>
        <p:txBody>
          <a:bodyPr/>
          <a:p/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139696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8288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Navigateur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847088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566928" y="2880360"/>
            <a:ext cx="31089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768096" y="3054096"/>
            <a:ext cx="521208" cy="521208"/>
          </a:xfrm>
          <a:prstGeom prst="ellipse">
            <a:avLst/>
          </a:prstGeom>
          <a:solidFill>
            <a:srgbClr val="F26322"/>
          </a:solidFill>
          <a:ln/>
        </p:spPr>
        <p:txBody>
          <a:bodyPr/>
          <a:p/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19125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81328" y="28803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 (O365)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847088" y="3703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566928" y="3931920"/>
            <a:ext cx="31089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768096" y="4105656"/>
            <a:ext cx="521208" cy="521208"/>
          </a:xfrm>
          <a:prstGeom prst="ellipse">
            <a:avLst/>
          </a:prstGeom>
          <a:solidFill>
            <a:srgbClr val="463838"/>
          </a:solidFill>
          <a:ln/>
        </p:spPr>
        <p:txBody>
          <a:bodyPr/>
          <a:p/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24281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81328" y="3931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+ rôle</a:t>
            </a:r>
            <a:endParaRPr lang="en-US" sz="14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1892808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526280" y="17830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: redirection du navigateur vers Entra ; SSO transparent si déjà connecté à Office 365.</a:t>
            </a:r>
            <a:endParaRPr lang="en-US" sz="14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2670048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526280" y="2560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aucun mot de passe géré par l'app ; MFA &amp; gouvernance assurées par l'IT.</a:t>
            </a:r>
            <a:endParaRPr lang="en-US" sz="14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3447288"/>
            <a:ext cx="292608" cy="29260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526280" y="33375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piloté par les groupes de sécurité Entra.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4114800" y="4343400"/>
            <a:ext cx="7635240" cy="1051560"/>
          </a:xfrm>
          <a:prstGeom prst="roundRect">
            <a:avLst>
              <a:gd name="adj" fmla="val 6087"/>
            </a:avLst>
          </a:prstGeom>
          <a:solidFill>
            <a:srgbClr val="F0EAE2"/>
          </a:solidFill>
          <a:ln w="19050">
            <a:solidFill>
              <a:srgbClr val="F26322"/>
            </a:solidFill>
            <a:prstDash val="solid"/>
          </a:ln>
        </p:spPr>
        <p:txBody>
          <a:bodyPr/>
          <a:p/>
        </p:txBody>
      </p:sp>
      <p:sp>
        <p:nvSpPr>
          <p:cNvPr id="26" name="Text 17"/>
          <p:cNvSpPr/>
          <p:nvPr/>
        </p:nvSpPr>
        <p:spPr>
          <a:xfrm>
            <a:off x="4389120" y="4343400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Question décisive à la DSI 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l'intranet a-t-il une sortie Internet vers Microsoft ? Sinon, repli AD FS ou Keycloak on-premise.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CORICA Talent Quantum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7964424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  ·   11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FEUILLE DE ROUTE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étapes — le SSO seul est différé</a:t>
            </a:r>
            <a:endParaRPr lang="en-US" sz="2900" dirty="0"/>
          </a:p>
        </p:txBody>
      </p:sp>
      <p:pic>
        <p:nvPicPr>
          <p:cNvPr id="4" name="Image 0" descr="/tmp/claude-1000/-home-mamadbah-projects-quantum/61842f09-b3f1-4925-8524-c48ab9ecbb53/scratchpad/deck/logo-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420624"/>
            <a:ext cx="59436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78308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66928" y="1783080"/>
            <a:ext cx="3520440" cy="128016"/>
          </a:xfrm>
          <a:prstGeom prst="rect">
            <a:avLst/>
          </a:prstGeom>
          <a:solidFill>
            <a:srgbClr val="463838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841248" y="2148840"/>
            <a:ext cx="731520" cy="731520"/>
          </a:xfrm>
          <a:prstGeom prst="ellipse">
            <a:avLst/>
          </a:prstGeom>
          <a:solidFill>
            <a:srgbClr val="463838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41248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709928" y="22128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8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709928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Hygiène immédiate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59536" y="3063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Révoquer la clé exposée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Couper les tunnels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Purger l'historique git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59536" y="4434840"/>
            <a:ext cx="2926080" cy="411480"/>
          </a:xfrm>
          <a:prstGeom prst="roundRect">
            <a:avLst>
              <a:gd name="adj" fmla="val 48889"/>
            </a:avLst>
          </a:prstGeom>
          <a:solidFill>
            <a:srgbClr val="F0EAE2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59536" y="4434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jours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15968" y="178308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315968" y="1783080"/>
            <a:ext cx="3520440" cy="128016"/>
          </a:xfrm>
          <a:prstGeom prst="rect">
            <a:avLst/>
          </a:prstGeom>
          <a:solidFill>
            <a:srgbClr val="F26322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590288" y="2148840"/>
            <a:ext cx="731520" cy="731520"/>
          </a:xfrm>
          <a:prstGeom prst="ellipse">
            <a:avLst/>
          </a:prstGeom>
          <a:solidFill>
            <a:srgbClr val="F26322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590288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458968" y="22128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8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58968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la vraie app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08576" y="3063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Email/mdp + sécurité + RGPD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Échelle 5 000 → test terrain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608576" y="4434840"/>
            <a:ext cx="2926080" cy="411480"/>
          </a:xfrm>
          <a:prstGeom prst="roundRect">
            <a:avLst>
              <a:gd name="adj" fmla="val 48889"/>
            </a:avLst>
          </a:prstGeom>
          <a:solidFill>
            <a:srgbClr val="FADFD1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608576" y="4434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6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actuelle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065008" y="178308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7E2DB"/>
            </a:solidFill>
            <a:prstDash val="solid"/>
          </a:ln>
          <a:effectLst>
            <a:outerShdw sx="100000" sy="100000" kx="0" ky="0" algn="bl" rotWithShape="0" blurRad="114300" dist="38100" dir="8100000">
              <a:srgbClr val="46383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8065008" y="1783080"/>
            <a:ext cx="3520440" cy="128016"/>
          </a:xfrm>
          <a:prstGeom prst="rect">
            <a:avLst/>
          </a:prstGeom>
          <a:solidFill>
            <a:srgbClr val="463838"/>
          </a:solidFill>
          <a:ln/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8339328" y="2148840"/>
            <a:ext cx="731520" cy="731520"/>
          </a:xfrm>
          <a:prstGeom prst="ellipse">
            <a:avLst/>
          </a:prstGeom>
          <a:solidFill>
            <a:srgbClr val="463838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8339328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9208008" y="22128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8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208008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Bascule finale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357616" y="3063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Entra ID (OIDC)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en production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Durcissement &amp; monitoring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357616" y="4434840"/>
            <a:ext cx="2926080" cy="411480"/>
          </a:xfrm>
          <a:prstGeom prst="roundRect">
            <a:avLst>
              <a:gd name="adj" fmla="val 48889"/>
            </a:avLst>
          </a:prstGeom>
          <a:solidFill>
            <a:srgbClr val="F0EAE2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8357616" y="4434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 terrain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CORICA Talent Quantum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964424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   ·   12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nous faut de CORICA</a:t>
            </a:r>
            <a:endParaRPr lang="en-US" sz="2900" dirty="0"/>
          </a:p>
        </p:txBody>
      </p:sp>
      <p:pic>
        <p:nvPicPr>
          <p:cNvPr id="4" name="Image 0" descr="/tmp/claude-1000/-home-mamadbah-projects-quantum/61842f09-b3f1-4925-8524-c48ab9ecbb53/scratchpad/deck/logo-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420624"/>
            <a:ext cx="59436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645920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92224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35024" y="1609344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Entra ID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335024" y="1920240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d'app + réponse sur la sortie Internet de l'intranet (phase 2)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66928" y="2432304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578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35024" y="2395728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Serveur(s) intranet + PostgreSQL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335024" y="2706624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Environnements staging &amp; production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66928" y="3218688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36499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35024" y="3182112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d'hébergement des données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1335024" y="3493008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Centralisé vs par pays + accord de transfert intra-groupe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66928" y="4005072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151376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35024" y="3968496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Relais e-mail officiel CORICA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1335024" y="4279392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notifications de campagne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66928" y="4791456"/>
            <a:ext cx="566928" cy="566928"/>
          </a:xfrm>
          <a:prstGeom prst="ellipse">
            <a:avLst/>
          </a:prstGeom>
          <a:solidFill>
            <a:srgbClr val="FADFD1"/>
          </a:solidFill>
          <a:ln/>
        </p:spPr>
        <p:txBody>
          <a:bodyPr/>
          <a:p/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93776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35024" y="4754880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Désignation d'un DPO / correspondant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1335024" y="5065776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piloter les déclarations aux autorités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CORICA Talent Quantum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7964424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  ·   13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6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1000/-home-mamadbah-projects-quantum/61842f09-b3f1-4925-8524-c48ab9ecbb53/scratchpad/deck/logo-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85800"/>
            <a:ext cx="96012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2331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DIRECTION VISUELLE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66928" y="26974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garde les fonctionnalités.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refait l'interface.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66928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pro, plus belle, aux couleurs CORICA — place aux maquettes.</a:t>
            </a:r>
            <a:endParaRPr lang="en-US" sz="2000" dirty="0"/>
          </a:p>
        </p:txBody>
      </p:sp>
      <p:pic>
        <p:nvPicPr>
          <p:cNvPr id="6" name="Image 1" descr="/tmp/claude-1000/-home-mamadbah-projects-quantum/61842f09-b3f1-4925-8524-c48ab9ecbb53/scratchpad/deck/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02552"/>
            <a:ext cx="1218895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46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Piloter les talents à la main ne tient plus</a:t>
            </a:r>
            <a:endParaRPr lang="en-US" sz="2900" dirty="0"/>
          </a:p>
        </p:txBody>
      </p:sp>
      <p:pic>
        <p:nvPicPr>
          <p:cNvPr id="4" name="Image 0" descr="/tmp/claude-1000/-home-mamadbah-projects-quantum/61842f09-b3f1-4925-8524-c48ab9ecbb53/scratchpad/deck/logo-d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420624"/>
            <a:ext cx="594360" cy="566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783080"/>
            <a:ext cx="182880" cy="182880"/>
          </a:xfrm>
          <a:prstGeom prst="ellipse">
            <a:avLst/>
          </a:prstGeom>
          <a:solidFill>
            <a:srgbClr val="F26322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024128" y="168249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Évaluations dispersées dans des fichiers Excel, par site et par pays.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12648" y="2350008"/>
            <a:ext cx="182880" cy="182880"/>
          </a:xfrm>
          <a:prstGeom prst="ellipse">
            <a:avLst/>
          </a:prstGeom>
          <a:solidFill>
            <a:srgbClr val="F26322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024128" y="224942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consolider ou de comparer les talents au niveau du groupe.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2648" y="2916936"/>
            <a:ext cx="182880" cy="182880"/>
          </a:xfrm>
          <a:prstGeom prst="ellipse">
            <a:avLst/>
          </a:prstGeom>
          <a:solidFill>
            <a:srgbClr val="F26322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024128" y="28163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manager évalue à sa façon — aucune équité ni référentiel commun.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2648" y="3483864"/>
            <a:ext cx="182880" cy="182880"/>
          </a:xfrm>
          <a:prstGeom prst="ellipse">
            <a:avLst/>
          </a:prstGeom>
          <a:solidFill>
            <a:srgbClr val="F26322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024128" y="3383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vision des hauts potentiels ni des risques de départ.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12648" y="4050792"/>
            <a:ext cx="182880" cy="182880"/>
          </a:xfrm>
          <a:prstGeom prst="ellipse">
            <a:avLst/>
          </a:prstGeom>
          <a:solidFill>
            <a:srgbClr val="F26322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24128" y="39502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préparation de la relève sur les postes critiques — enjeu de sécurité en milieu minier.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12648" y="4617720"/>
            <a:ext cx="182880" cy="182880"/>
          </a:xfrm>
          <a:prstGeom prst="ellipse">
            <a:avLst/>
          </a:prstGeom>
          <a:solidFill>
            <a:srgbClr val="F26322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024128" y="451713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Formations décidées au feeling, sans lien avec les écarts de compétences réels.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66928" y="5257800"/>
            <a:ext cx="11055096" cy="640080"/>
          </a:xfrm>
          <a:prstGeom prst="roundRect">
            <a:avLst>
              <a:gd name="adj" fmla="val 8571"/>
            </a:avLst>
          </a:prstGeom>
          <a:solidFill>
            <a:srgbClr val="F0EAE2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41248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6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l'échelle de 5 000 employés et 8 pays, ces angles morts deviennent un risque opérationnel — c'est exactement ce que Talent Quantum vient résoudre.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CORICA Talent Quantum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64424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  ·   3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CORICA Talent Quantum</dc:title>
  <dc:subject>PptxGenJS Presentation</dc:subject>
  <dc:creator>CORICA — DevSecOps</dc:creator>
  <cp:lastModifiedBy>CORICA — DevSecOps</cp:lastModifiedBy>
  <cp:revision>1</cp:revision>
  <dcterms:created xsi:type="dcterms:W3CDTF">2026-07-02T13:16:17Z</dcterms:created>
  <dcterms:modified xsi:type="dcterms:W3CDTF">2026-07-02T13:16:17Z</dcterms:modified>
</cp:coreProperties>
</file>