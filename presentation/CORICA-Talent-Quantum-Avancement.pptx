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3.png"/><Relationship Id="rId7" Type="http://schemas.openxmlformats.org/officeDocument/2006/relationships/image" Target="../media/image-4-3.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463838"/>
          </a:solidFill>
          <a:ln/>
        </p:spPr>
      </p:sp>
      <p:pic>
        <p:nvPicPr>
          <p:cNvPr id="3" name="Image 0" descr="/tmp/claude-1000/-home-mamadbah-projects-quantum/9b48bb23-8032-4c5a-8882-a173fed48246/scratchpad/assets/mark-cover.png">    </p:cNvPr>
          <p:cNvPicPr>
            <a:picLocks noChangeAspect="1"/>
          </p:cNvPicPr>
          <p:nvPr/>
        </p:nvPicPr>
        <p:blipFill>
          <a:blip r:embed="rId1"/>
          <a:stretch>
            <a:fillRect/>
          </a:stretch>
        </p:blipFill>
        <p:spPr>
          <a:xfrm>
            <a:off x="566928" y="640080"/>
            <a:ext cx="1106424" cy="1051560"/>
          </a:xfrm>
          <a:prstGeom prst="rect">
            <a:avLst/>
          </a:prstGeom>
        </p:spPr>
      </p:pic>
      <p:sp>
        <p:nvSpPr>
          <p:cNvPr id="4" name="Text 1"/>
          <p:cNvSpPr/>
          <p:nvPr/>
        </p:nvSpPr>
        <p:spPr>
          <a:xfrm>
            <a:off x="566928" y="2286000"/>
            <a:ext cx="10058400" cy="320040"/>
          </a:xfrm>
          <a:prstGeom prst="rect">
            <a:avLst/>
          </a:prstGeom>
          <a:noFill/>
          <a:ln/>
        </p:spPr>
        <p:txBody>
          <a:bodyPr wrap="square" lIns="0" tIns="0" rIns="0" bIns="0" rtlCol="0" anchor="ctr"/>
          <a:lstStyle/>
          <a:p>
            <a:pPr indent="0" marL="0">
              <a:buNone/>
            </a:pPr>
            <a:r>
              <a:rPr lang="en-US" sz="1300" b="1" spc="100" kern="0" dirty="0">
                <a:solidFill>
                  <a:srgbClr val="F26322"/>
                </a:solidFill>
                <a:latin typeface="Arial" pitchFamily="34" charset="0"/>
                <a:ea typeface="Arial" pitchFamily="34" charset="-122"/>
                <a:cs typeface="Arial" pitchFamily="34" charset="-120"/>
              </a:rPr>
              <a:t>POINT D'AVANCEMENT  ·  15 JUILLET 2026</a:t>
            </a:r>
            <a:endParaRPr lang="en-US" sz="1300" dirty="0"/>
          </a:p>
        </p:txBody>
      </p:sp>
      <p:sp>
        <p:nvSpPr>
          <p:cNvPr id="5" name="Text 2"/>
          <p:cNvSpPr/>
          <p:nvPr/>
        </p:nvSpPr>
        <p:spPr>
          <a:xfrm>
            <a:off x="566928" y="2651760"/>
            <a:ext cx="109728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TALENT QUANTUM</a:t>
            </a:r>
            <a:endParaRPr lang="en-US" sz="6000" dirty="0"/>
          </a:p>
        </p:txBody>
      </p:sp>
      <p:sp>
        <p:nvSpPr>
          <p:cNvPr id="6" name="Text 3"/>
          <p:cNvSpPr/>
          <p:nvPr/>
        </p:nvSpPr>
        <p:spPr>
          <a:xfrm>
            <a:off x="566928" y="3886200"/>
            <a:ext cx="10972800" cy="457200"/>
          </a:xfrm>
          <a:prstGeom prst="rect">
            <a:avLst/>
          </a:prstGeom>
          <a:noFill/>
          <a:ln/>
        </p:spPr>
        <p:txBody>
          <a:bodyPr wrap="square" lIns="0" tIns="0" rIns="0" bIns="0" rtlCol="0" anchor="ctr"/>
          <a:lstStyle/>
          <a:p>
            <a:pPr indent="0" marL="0">
              <a:buNone/>
            </a:pPr>
            <a:r>
              <a:rPr lang="en-US" sz="2200" dirty="0">
                <a:solidFill>
                  <a:srgbClr val="EDE7E2"/>
                </a:solidFill>
                <a:latin typeface="Calibri" pitchFamily="34" charset="0"/>
                <a:ea typeface="Calibri" pitchFamily="34" charset="-122"/>
                <a:cs typeface="Calibri" pitchFamily="34" charset="-120"/>
              </a:rPr>
              <a:t>Ce qui a été fait, ce qui vient ensuite</a:t>
            </a:r>
            <a:endParaRPr lang="en-US" sz="2200" dirty="0"/>
          </a:p>
        </p:txBody>
      </p:sp>
      <p:sp>
        <p:nvSpPr>
          <p:cNvPr id="7" name="Text 4"/>
          <p:cNvSpPr/>
          <p:nvPr/>
        </p:nvSpPr>
        <p:spPr>
          <a:xfrm>
            <a:off x="566928" y="4480560"/>
            <a:ext cx="10972800" cy="365760"/>
          </a:xfrm>
          <a:prstGeom prst="rect">
            <a:avLst/>
          </a:prstGeom>
          <a:noFill/>
          <a:ln/>
        </p:spPr>
        <p:txBody>
          <a:bodyPr wrap="square" lIns="0" tIns="0" rIns="0" bIns="0" rtlCol="0" anchor="ctr"/>
          <a:lstStyle/>
          <a:p>
            <a:pPr indent="0" marL="0">
              <a:buNone/>
            </a:pPr>
            <a:r>
              <a:rPr lang="en-US" sz="1400" dirty="0">
                <a:solidFill>
                  <a:srgbClr val="B9AEA8"/>
                </a:solidFill>
                <a:latin typeface="Calibri" pitchFamily="34" charset="0"/>
                <a:ea typeface="Calibri" pitchFamily="34" charset="-122"/>
                <a:cs typeface="Calibri" pitchFamily="34" charset="-120"/>
              </a:rPr>
              <a:t>Charte verrouillée  ·  Parcours Employé livré  ·  Manager &amp; RH Pays à suivre</a:t>
            </a:r>
            <a:endParaRPr lang="en-US" sz="1400" dirty="0"/>
          </a:p>
        </p:txBody>
      </p:sp>
      <p:pic>
        <p:nvPicPr>
          <p:cNvPr id="8" name="Image 1" descr="/tmp/claude-1000/-home-mamadbah-projects-quantum/9b48bb23-8032-4c5a-8882-a173fed48246/scratchpad/assets/pattern-strip.png">    </p:cNvPr>
          <p:cNvPicPr>
            <a:picLocks noChangeAspect="1"/>
          </p:cNvPicPr>
          <p:nvPr/>
        </p:nvPicPr>
        <p:blipFill>
          <a:blip r:embed="rId2"/>
          <a:stretch>
            <a:fillRect/>
          </a:stretch>
        </p:blipFill>
        <p:spPr>
          <a:xfrm>
            <a:off x="0" y="6702552"/>
            <a:ext cx="12188952" cy="1554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38912"/>
            <a:ext cx="8229600" cy="274320"/>
          </a:xfrm>
          <a:prstGeom prst="rect">
            <a:avLst/>
          </a:prstGeom>
          <a:noFill/>
          <a:ln/>
        </p:spPr>
        <p:txBody>
          <a:bodyPr wrap="square" lIns="0" tIns="0" rIns="0" bIns="0" rtlCol="0" anchor="ctr"/>
          <a:lstStyle/>
          <a:p>
            <a:pPr indent="0" marL="0">
              <a:buNone/>
            </a:pPr>
            <a:r>
              <a:rPr lang="en-US" sz="1200" b="1" spc="100" kern="0" dirty="0">
                <a:solidFill>
                  <a:srgbClr val="F26322"/>
                </a:solidFill>
                <a:latin typeface="Arial" pitchFamily="34" charset="0"/>
                <a:ea typeface="Arial" pitchFamily="34" charset="-122"/>
                <a:cs typeface="Arial" pitchFamily="34" charset="-120"/>
              </a:rPr>
              <a:t>AVANCEMENT</a:t>
            </a:r>
            <a:endParaRPr lang="en-US" sz="1200" dirty="0"/>
          </a:p>
        </p:txBody>
      </p:sp>
      <p:sp>
        <p:nvSpPr>
          <p:cNvPr id="3" name="Text 1"/>
          <p:cNvSpPr/>
          <p:nvPr/>
        </p:nvSpPr>
        <p:spPr>
          <a:xfrm>
            <a:off x="566928" y="713232"/>
            <a:ext cx="9509760" cy="640080"/>
          </a:xfrm>
          <a:prstGeom prst="rect">
            <a:avLst/>
          </a:prstGeom>
          <a:noFill/>
          <a:ln/>
        </p:spPr>
        <p:txBody>
          <a:bodyPr wrap="square" lIns="0" tIns="0" rIns="0" bIns="0" rtlCol="0" anchor="ctr"/>
          <a:lstStyle/>
          <a:p>
            <a:pPr indent="0" marL="0">
              <a:buNone/>
            </a:pPr>
            <a:r>
              <a:rPr lang="en-US" sz="2900" b="1" dirty="0">
                <a:solidFill>
                  <a:srgbClr val="463838"/>
                </a:solidFill>
                <a:latin typeface="Arial" pitchFamily="34" charset="0"/>
                <a:ea typeface="Arial" pitchFamily="34" charset="-122"/>
                <a:cs typeface="Arial" pitchFamily="34" charset="-120"/>
              </a:rPr>
              <a:t>Où en est le chantier ?</a:t>
            </a:r>
            <a:endParaRPr lang="en-US" sz="2900" dirty="0"/>
          </a:p>
        </p:txBody>
      </p:sp>
      <p:pic>
        <p:nvPicPr>
          <p:cNvPr id="4" name="Image 0" descr="/tmp/claude-1000/-home-mamadbah-projects-quantum/9b48bb23-8032-4c5a-8882-a173fed48246/scratchpad/assets/mark-light-slides.png">    </p:cNvPr>
          <p:cNvPicPr>
            <a:picLocks noChangeAspect="1"/>
          </p:cNvPicPr>
          <p:nvPr/>
        </p:nvPicPr>
        <p:blipFill>
          <a:blip r:embed="rId1"/>
          <a:stretch>
            <a:fillRect/>
          </a:stretch>
        </p:blipFill>
        <p:spPr>
          <a:xfrm>
            <a:off x="11055096" y="420624"/>
            <a:ext cx="594360" cy="566928"/>
          </a:xfrm>
          <a:prstGeom prst="rect">
            <a:avLst/>
          </a:prstGeom>
        </p:spPr>
      </p:pic>
      <p:sp>
        <p:nvSpPr>
          <p:cNvPr id="5" name="Text 2"/>
          <p:cNvSpPr/>
          <p:nvPr/>
        </p:nvSpPr>
        <p:spPr>
          <a:xfrm>
            <a:off x="566928" y="6400800"/>
            <a:ext cx="5486400" cy="228600"/>
          </a:xfrm>
          <a:prstGeom prst="rect">
            <a:avLst/>
          </a:prstGeom>
          <a:noFill/>
          <a:ln/>
        </p:spPr>
        <p:txBody>
          <a:bodyPr wrap="square" lIns="0" tIns="0" rIns="0" bIns="0" rtlCol="0" anchor="ctr"/>
          <a:lstStyle/>
          <a:p>
            <a:pPr algn="l" indent="0" marL="0">
              <a:buNone/>
            </a:pPr>
            <a:r>
              <a:rPr lang="en-US" sz="900" dirty="0">
                <a:solidFill>
                  <a:srgbClr val="8A817C"/>
                </a:solidFill>
                <a:latin typeface="Calibri" pitchFamily="34" charset="0"/>
                <a:ea typeface="Calibri" pitchFamily="34" charset="-122"/>
                <a:cs typeface="Calibri" pitchFamily="34" charset="-120"/>
              </a:rPr>
              <a:t>CORICA Talent Quantum</a:t>
            </a:r>
            <a:endParaRPr lang="en-US" sz="900" dirty="0"/>
          </a:p>
        </p:txBody>
      </p:sp>
      <p:sp>
        <p:nvSpPr>
          <p:cNvPr id="6" name="Text 3"/>
          <p:cNvSpPr/>
          <p:nvPr/>
        </p:nvSpPr>
        <p:spPr>
          <a:xfrm>
            <a:off x="7964424" y="6400800"/>
            <a:ext cx="3657600" cy="228600"/>
          </a:xfrm>
          <a:prstGeom prst="rect">
            <a:avLst/>
          </a:prstGeom>
          <a:noFill/>
          <a:ln/>
        </p:spPr>
        <p:txBody>
          <a:bodyPr wrap="square" lIns="0" tIns="0" rIns="0" bIns="0" rtlCol="0" anchor="ctr"/>
          <a:lstStyle/>
          <a:p>
            <a:pPr algn="r" indent="0" marL="0">
              <a:buNone/>
            </a:pPr>
            <a:r>
              <a:rPr lang="en-US" sz="900" dirty="0">
                <a:solidFill>
                  <a:srgbClr val="8A817C"/>
                </a:solidFill>
                <a:latin typeface="Calibri" pitchFamily="34" charset="0"/>
                <a:ea typeface="Calibri" pitchFamily="34" charset="-122"/>
                <a:cs typeface="Calibri" pitchFamily="34" charset="-120"/>
              </a:rPr>
              <a:t>Avancement   ·   2 / 5</a:t>
            </a:r>
            <a:endParaRPr lang="en-US" sz="900" dirty="0"/>
          </a:p>
        </p:txBody>
      </p:sp>
      <p:sp>
        <p:nvSpPr>
          <p:cNvPr id="7" name="Text 4"/>
          <p:cNvSpPr/>
          <p:nvPr/>
        </p:nvSpPr>
        <p:spPr>
          <a:xfrm>
            <a:off x="566928" y="1536192"/>
            <a:ext cx="10972800" cy="502920"/>
          </a:xfrm>
          <a:prstGeom prst="rect">
            <a:avLst/>
          </a:prstGeom>
          <a:noFill/>
          <a:ln/>
        </p:spPr>
        <p:txBody>
          <a:bodyPr wrap="square" lIns="0" tIns="0" rIns="0" bIns="0" rtlCol="0" anchor="t"/>
          <a:lstStyle/>
          <a:p>
            <a:pPr indent="0" marL="0">
              <a:buNone/>
            </a:pPr>
            <a:r>
              <a:rPr lang="en-US" sz="1550" dirty="0">
                <a:solidFill>
                  <a:srgbClr val="463838"/>
                </a:solidFill>
                <a:latin typeface="Calibri" pitchFamily="34" charset="0"/>
                <a:ea typeface="Calibri" pitchFamily="34" charset="-122"/>
                <a:cs typeface="Calibri" pitchFamily="34" charset="-120"/>
              </a:rPr>
              <a:t>Le 7 juillet, nous avons présenté le diagnostic et l'architecture cible. Depuis, nous avons exécuté le volet direction visuelle — le dernier point de cette présentation.</a:t>
            </a:r>
            <a:endParaRPr lang="en-US" sz="1550" dirty="0"/>
          </a:p>
        </p:txBody>
      </p:sp>
      <p:sp>
        <p:nvSpPr>
          <p:cNvPr id="8" name="Shape 5"/>
          <p:cNvSpPr/>
          <p:nvPr/>
        </p:nvSpPr>
        <p:spPr>
          <a:xfrm>
            <a:off x="1207008" y="2574036"/>
            <a:ext cx="2993136" cy="27432"/>
          </a:xfrm>
          <a:prstGeom prst="rect">
            <a:avLst/>
          </a:prstGeom>
          <a:solidFill>
            <a:srgbClr val="463838"/>
          </a:solidFill>
          <a:ln/>
        </p:spPr>
      </p:sp>
      <p:sp>
        <p:nvSpPr>
          <p:cNvPr id="9" name="Shape 6"/>
          <p:cNvSpPr/>
          <p:nvPr/>
        </p:nvSpPr>
        <p:spPr>
          <a:xfrm>
            <a:off x="4968240" y="2574036"/>
            <a:ext cx="2993136" cy="27432"/>
          </a:xfrm>
          <a:prstGeom prst="rect">
            <a:avLst/>
          </a:prstGeom>
          <a:solidFill>
            <a:srgbClr val="E7E2DB"/>
          </a:solidFill>
          <a:ln/>
        </p:spPr>
      </p:sp>
      <p:sp>
        <p:nvSpPr>
          <p:cNvPr id="10" name="Shape 7"/>
          <p:cNvSpPr/>
          <p:nvPr/>
        </p:nvSpPr>
        <p:spPr>
          <a:xfrm>
            <a:off x="566928" y="2331720"/>
            <a:ext cx="512064" cy="512064"/>
          </a:xfrm>
          <a:prstGeom prst="ellipse">
            <a:avLst/>
          </a:prstGeom>
          <a:solidFill>
            <a:srgbClr val="463838"/>
          </a:solidFill>
          <a:ln/>
        </p:spPr>
      </p:sp>
      <p:sp>
        <p:nvSpPr>
          <p:cNvPr id="11" name="Text 8"/>
          <p:cNvSpPr/>
          <p:nvPr/>
        </p:nvSpPr>
        <p:spPr>
          <a:xfrm>
            <a:off x="566928" y="23317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2" name="Shape 9"/>
          <p:cNvSpPr/>
          <p:nvPr/>
        </p:nvSpPr>
        <p:spPr>
          <a:xfrm>
            <a:off x="566928" y="3017520"/>
            <a:ext cx="1463040" cy="274320"/>
          </a:xfrm>
          <a:prstGeom prst="rect">
            <a:avLst/>
          </a:prstGeom>
          <a:solidFill>
            <a:srgbClr val="F0EAE2"/>
          </a:solidFill>
          <a:ln/>
        </p:spPr>
      </p:sp>
      <p:sp>
        <p:nvSpPr>
          <p:cNvPr id="13" name="Text 10"/>
          <p:cNvSpPr/>
          <p:nvPr/>
        </p:nvSpPr>
        <p:spPr>
          <a:xfrm>
            <a:off x="566928" y="3017520"/>
            <a:ext cx="1463040" cy="274320"/>
          </a:xfrm>
          <a:prstGeom prst="rect">
            <a:avLst/>
          </a:prstGeom>
          <a:noFill/>
          <a:ln/>
        </p:spPr>
        <p:txBody>
          <a:bodyPr wrap="square" lIns="0" tIns="0" rIns="0" bIns="0" rtlCol="0" anchor="ctr"/>
          <a:lstStyle/>
          <a:p>
            <a:pPr algn="ctr" indent="0" marL="0">
              <a:buNone/>
            </a:pPr>
            <a:r>
              <a:rPr lang="en-US" sz="1050" b="1" spc="60" kern="0" dirty="0">
                <a:solidFill>
                  <a:srgbClr val="463838"/>
                </a:solidFill>
                <a:latin typeface="Calibri" pitchFamily="34" charset="0"/>
                <a:ea typeface="Calibri" pitchFamily="34" charset="-122"/>
                <a:cs typeface="Calibri" pitchFamily="34" charset="-120"/>
              </a:rPr>
              <a:t>TERMINÉ</a:t>
            </a:r>
            <a:endParaRPr lang="en-US" sz="1050" dirty="0"/>
          </a:p>
        </p:txBody>
      </p:sp>
      <p:sp>
        <p:nvSpPr>
          <p:cNvPr id="14" name="Text 11"/>
          <p:cNvSpPr/>
          <p:nvPr/>
        </p:nvSpPr>
        <p:spPr>
          <a:xfrm>
            <a:off x="566928" y="3429000"/>
            <a:ext cx="3291840" cy="365760"/>
          </a:xfrm>
          <a:prstGeom prst="rect">
            <a:avLst/>
          </a:prstGeom>
          <a:noFill/>
          <a:ln/>
        </p:spPr>
        <p:txBody>
          <a:bodyPr wrap="square" lIns="0" tIns="0" rIns="0" bIns="0" rtlCol="0" anchor="ctr"/>
          <a:lstStyle/>
          <a:p>
            <a:pPr indent="0" marL="0">
              <a:buNone/>
            </a:pPr>
            <a:r>
              <a:rPr lang="en-US" sz="1500" b="1" dirty="0">
                <a:solidFill>
                  <a:srgbClr val="463838"/>
                </a:solidFill>
                <a:latin typeface="Arial" pitchFamily="34" charset="0"/>
                <a:ea typeface="Arial" pitchFamily="34" charset="-122"/>
                <a:cs typeface="Arial" pitchFamily="34" charset="-120"/>
              </a:rPr>
              <a:t>Cadrage &amp; diagnostic</a:t>
            </a:r>
            <a:endParaRPr lang="en-US" sz="1500" dirty="0"/>
          </a:p>
        </p:txBody>
      </p:sp>
      <p:sp>
        <p:nvSpPr>
          <p:cNvPr id="15" name="Text 12"/>
          <p:cNvSpPr/>
          <p:nvPr/>
        </p:nvSpPr>
        <p:spPr>
          <a:xfrm>
            <a:off x="566928" y="3840480"/>
            <a:ext cx="3291840" cy="1188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Audit du prototype existant</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Architecture cible &amp; technologies</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Sécurité et cadre RGPD</a:t>
            </a:r>
            <a:endParaRPr lang="en-US" sz="1250" dirty="0"/>
          </a:p>
        </p:txBody>
      </p:sp>
      <p:sp>
        <p:nvSpPr>
          <p:cNvPr id="16" name="Shape 13"/>
          <p:cNvSpPr/>
          <p:nvPr/>
        </p:nvSpPr>
        <p:spPr>
          <a:xfrm>
            <a:off x="4328160" y="2331720"/>
            <a:ext cx="512064" cy="512064"/>
          </a:xfrm>
          <a:prstGeom prst="ellipse">
            <a:avLst/>
          </a:prstGeom>
          <a:solidFill>
            <a:srgbClr val="F26322"/>
          </a:solidFill>
          <a:ln/>
        </p:spPr>
      </p:sp>
      <p:sp>
        <p:nvSpPr>
          <p:cNvPr id="17" name="Text 14"/>
          <p:cNvSpPr/>
          <p:nvPr/>
        </p:nvSpPr>
        <p:spPr>
          <a:xfrm>
            <a:off x="4328160" y="23317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8" name="Shape 15"/>
          <p:cNvSpPr/>
          <p:nvPr/>
        </p:nvSpPr>
        <p:spPr>
          <a:xfrm>
            <a:off x="4328160" y="3017520"/>
            <a:ext cx="1463040" cy="274320"/>
          </a:xfrm>
          <a:prstGeom prst="rect">
            <a:avLst/>
          </a:prstGeom>
          <a:solidFill>
            <a:srgbClr val="FADFD1"/>
          </a:solidFill>
          <a:ln/>
        </p:spPr>
      </p:sp>
      <p:sp>
        <p:nvSpPr>
          <p:cNvPr id="19" name="Text 16"/>
          <p:cNvSpPr/>
          <p:nvPr/>
        </p:nvSpPr>
        <p:spPr>
          <a:xfrm>
            <a:off x="4328160" y="3017520"/>
            <a:ext cx="1463040" cy="274320"/>
          </a:xfrm>
          <a:prstGeom prst="rect">
            <a:avLst/>
          </a:prstGeom>
          <a:noFill/>
          <a:ln/>
        </p:spPr>
        <p:txBody>
          <a:bodyPr wrap="square" lIns="0" tIns="0" rIns="0" bIns="0" rtlCol="0" anchor="ctr"/>
          <a:lstStyle/>
          <a:p>
            <a:pPr algn="ctr" indent="0" marL="0">
              <a:buNone/>
            </a:pPr>
            <a:r>
              <a:rPr lang="en-US" sz="1050" b="1" spc="60" kern="0" dirty="0">
                <a:solidFill>
                  <a:srgbClr val="F26322"/>
                </a:solidFill>
                <a:latin typeface="Calibri" pitchFamily="34" charset="0"/>
                <a:ea typeface="Calibri" pitchFamily="34" charset="-122"/>
                <a:cs typeface="Calibri" pitchFamily="34" charset="-120"/>
              </a:rPr>
              <a:t>EN COURS</a:t>
            </a:r>
            <a:endParaRPr lang="en-US" sz="1050" dirty="0"/>
          </a:p>
        </p:txBody>
      </p:sp>
      <p:sp>
        <p:nvSpPr>
          <p:cNvPr id="20" name="Text 17"/>
          <p:cNvSpPr/>
          <p:nvPr/>
        </p:nvSpPr>
        <p:spPr>
          <a:xfrm>
            <a:off x="4328160" y="3429000"/>
            <a:ext cx="3291840" cy="365760"/>
          </a:xfrm>
          <a:prstGeom prst="rect">
            <a:avLst/>
          </a:prstGeom>
          <a:noFill/>
          <a:ln/>
        </p:spPr>
        <p:txBody>
          <a:bodyPr wrap="square" lIns="0" tIns="0" rIns="0" bIns="0" rtlCol="0" anchor="ctr"/>
          <a:lstStyle/>
          <a:p>
            <a:pPr indent="0" marL="0">
              <a:buNone/>
            </a:pPr>
            <a:r>
              <a:rPr lang="en-US" sz="1500" b="1" dirty="0">
                <a:solidFill>
                  <a:srgbClr val="463838"/>
                </a:solidFill>
                <a:latin typeface="Arial" pitchFamily="34" charset="0"/>
                <a:ea typeface="Arial" pitchFamily="34" charset="-122"/>
                <a:cs typeface="Arial" pitchFamily="34" charset="-120"/>
              </a:rPr>
              <a:t>Direction visuelle</a:t>
            </a:r>
            <a:endParaRPr lang="en-US" sz="1500" dirty="0"/>
          </a:p>
        </p:txBody>
      </p:sp>
      <p:sp>
        <p:nvSpPr>
          <p:cNvPr id="21" name="Text 18"/>
          <p:cNvSpPr/>
          <p:nvPr/>
        </p:nvSpPr>
        <p:spPr>
          <a:xfrm>
            <a:off x="4328160" y="3840480"/>
            <a:ext cx="3291840" cy="1188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Charte graphique verrouillée</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Parcours Employé livré</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Manager &amp; RH Pays à suivre</a:t>
            </a:r>
            <a:endParaRPr lang="en-US" sz="1250" dirty="0"/>
          </a:p>
        </p:txBody>
      </p:sp>
      <p:sp>
        <p:nvSpPr>
          <p:cNvPr id="22" name="Shape 19"/>
          <p:cNvSpPr/>
          <p:nvPr/>
        </p:nvSpPr>
        <p:spPr>
          <a:xfrm>
            <a:off x="8089392" y="2331720"/>
            <a:ext cx="512064" cy="512064"/>
          </a:xfrm>
          <a:prstGeom prst="ellipse">
            <a:avLst/>
          </a:prstGeom>
          <a:solidFill>
            <a:srgbClr val="FFFFFF"/>
          </a:solidFill>
          <a:ln w="12700">
            <a:solidFill>
              <a:srgbClr val="E7E2DB"/>
            </a:solidFill>
            <a:prstDash val="solid"/>
          </a:ln>
        </p:spPr>
      </p:sp>
      <p:sp>
        <p:nvSpPr>
          <p:cNvPr id="23" name="Text 20"/>
          <p:cNvSpPr/>
          <p:nvPr/>
        </p:nvSpPr>
        <p:spPr>
          <a:xfrm>
            <a:off x="8089392" y="2331720"/>
            <a:ext cx="512064" cy="512064"/>
          </a:xfrm>
          <a:prstGeom prst="rect">
            <a:avLst/>
          </a:prstGeom>
          <a:noFill/>
          <a:ln/>
        </p:spPr>
        <p:txBody>
          <a:bodyPr wrap="square" lIns="0" tIns="0" rIns="0" bIns="0" rtlCol="0" anchor="ctr"/>
          <a:lstStyle/>
          <a:p>
            <a:pPr algn="ctr" indent="0" marL="0">
              <a:buNone/>
            </a:pPr>
            <a:r>
              <a:rPr lang="en-US" sz="1800" b="1" dirty="0">
                <a:solidFill>
                  <a:srgbClr val="8A817C"/>
                </a:solidFill>
                <a:latin typeface="Arial" pitchFamily="34" charset="0"/>
                <a:ea typeface="Arial" pitchFamily="34" charset="-122"/>
                <a:cs typeface="Arial" pitchFamily="34" charset="-120"/>
              </a:rPr>
              <a:t>3</a:t>
            </a:r>
            <a:endParaRPr lang="en-US" sz="1800" dirty="0"/>
          </a:p>
        </p:txBody>
      </p:sp>
      <p:sp>
        <p:nvSpPr>
          <p:cNvPr id="24" name="Shape 21"/>
          <p:cNvSpPr/>
          <p:nvPr/>
        </p:nvSpPr>
        <p:spPr>
          <a:xfrm>
            <a:off x="8089392" y="3017520"/>
            <a:ext cx="1463040" cy="274320"/>
          </a:xfrm>
          <a:prstGeom prst="rect">
            <a:avLst/>
          </a:prstGeom>
          <a:solidFill>
            <a:srgbClr val="F7F6F3"/>
          </a:solidFill>
          <a:ln w="12700">
            <a:solidFill>
              <a:srgbClr val="E7E2DB"/>
            </a:solidFill>
            <a:prstDash val="solid"/>
          </a:ln>
        </p:spPr>
      </p:sp>
      <p:sp>
        <p:nvSpPr>
          <p:cNvPr id="25" name="Text 22"/>
          <p:cNvSpPr/>
          <p:nvPr/>
        </p:nvSpPr>
        <p:spPr>
          <a:xfrm>
            <a:off x="8089392" y="3017520"/>
            <a:ext cx="1463040" cy="274320"/>
          </a:xfrm>
          <a:prstGeom prst="rect">
            <a:avLst/>
          </a:prstGeom>
          <a:noFill/>
          <a:ln/>
        </p:spPr>
        <p:txBody>
          <a:bodyPr wrap="square" lIns="0" tIns="0" rIns="0" bIns="0" rtlCol="0" anchor="ctr"/>
          <a:lstStyle/>
          <a:p>
            <a:pPr algn="ctr" indent="0" marL="0">
              <a:buNone/>
            </a:pPr>
            <a:r>
              <a:rPr lang="en-US" sz="1050" b="1" spc="60" kern="0" dirty="0">
                <a:solidFill>
                  <a:srgbClr val="8A817C"/>
                </a:solidFill>
                <a:latin typeface="Calibri" pitchFamily="34" charset="0"/>
                <a:ea typeface="Calibri" pitchFamily="34" charset="-122"/>
                <a:cs typeface="Calibri" pitchFamily="34" charset="-120"/>
              </a:rPr>
              <a:t>À VENIR</a:t>
            </a:r>
            <a:endParaRPr lang="en-US" sz="1050" dirty="0"/>
          </a:p>
        </p:txBody>
      </p:sp>
      <p:sp>
        <p:nvSpPr>
          <p:cNvPr id="26" name="Text 23"/>
          <p:cNvSpPr/>
          <p:nvPr/>
        </p:nvSpPr>
        <p:spPr>
          <a:xfrm>
            <a:off x="8089392" y="3429000"/>
            <a:ext cx="3291840" cy="365760"/>
          </a:xfrm>
          <a:prstGeom prst="rect">
            <a:avLst/>
          </a:prstGeom>
          <a:noFill/>
          <a:ln/>
        </p:spPr>
        <p:txBody>
          <a:bodyPr wrap="square" lIns="0" tIns="0" rIns="0" bIns="0" rtlCol="0" anchor="ctr"/>
          <a:lstStyle/>
          <a:p>
            <a:pPr indent="0" marL="0">
              <a:buNone/>
            </a:pPr>
            <a:r>
              <a:rPr lang="en-US" sz="1500" b="1" dirty="0">
                <a:solidFill>
                  <a:srgbClr val="463838"/>
                </a:solidFill>
                <a:latin typeface="Arial" pitchFamily="34" charset="0"/>
                <a:ea typeface="Arial" pitchFamily="34" charset="-122"/>
                <a:cs typeface="Arial" pitchFamily="34" charset="-120"/>
              </a:rPr>
              <a:t>Construction de l'app</a:t>
            </a:r>
            <a:endParaRPr lang="en-US" sz="1500" dirty="0"/>
          </a:p>
        </p:txBody>
      </p:sp>
      <p:sp>
        <p:nvSpPr>
          <p:cNvPr id="27" name="Text 24"/>
          <p:cNvSpPr/>
          <p:nvPr/>
        </p:nvSpPr>
        <p:spPr>
          <a:xfrm>
            <a:off x="8089392" y="3840480"/>
            <a:ext cx="3291840" cy="11887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Backend &amp; base de données</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Sécurité et RGPD appliqués</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Mise en production</a:t>
            </a:r>
            <a:endParaRPr lang="en-US" sz="1250" dirty="0"/>
          </a:p>
        </p:txBody>
      </p:sp>
      <p:sp>
        <p:nvSpPr>
          <p:cNvPr id="28" name="Shape 25"/>
          <p:cNvSpPr/>
          <p:nvPr/>
        </p:nvSpPr>
        <p:spPr>
          <a:xfrm>
            <a:off x="566928" y="5148072"/>
            <a:ext cx="11055096" cy="1024128"/>
          </a:xfrm>
          <a:prstGeom prst="rect">
            <a:avLst/>
          </a:prstGeom>
          <a:solidFill>
            <a:srgbClr val="463838"/>
          </a:solidFill>
          <a:ln/>
        </p:spPr>
      </p:sp>
      <p:sp>
        <p:nvSpPr>
          <p:cNvPr id="29" name="Shape 26"/>
          <p:cNvSpPr/>
          <p:nvPr/>
        </p:nvSpPr>
        <p:spPr>
          <a:xfrm>
            <a:off x="566928" y="5148072"/>
            <a:ext cx="109728" cy="1024128"/>
          </a:xfrm>
          <a:prstGeom prst="rect">
            <a:avLst/>
          </a:prstGeom>
          <a:solidFill>
            <a:srgbClr val="F26322"/>
          </a:solidFill>
          <a:ln/>
        </p:spPr>
      </p:sp>
      <p:sp>
        <p:nvSpPr>
          <p:cNvPr id="30" name="Text 27"/>
          <p:cNvSpPr/>
          <p:nvPr/>
        </p:nvSpPr>
        <p:spPr>
          <a:xfrm>
            <a:off x="932688" y="5285232"/>
            <a:ext cx="10424160" cy="347472"/>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Pourquoi les maquettes avant le code ?</a:t>
            </a:r>
            <a:endParaRPr lang="en-US" sz="1550" dirty="0"/>
          </a:p>
        </p:txBody>
      </p:sp>
      <p:sp>
        <p:nvSpPr>
          <p:cNvPr id="31" name="Text 28"/>
          <p:cNvSpPr/>
          <p:nvPr/>
        </p:nvSpPr>
        <p:spPr>
          <a:xfrm>
            <a:off x="932688" y="5660136"/>
            <a:ext cx="10424160" cy="438912"/>
          </a:xfrm>
          <a:prstGeom prst="rect">
            <a:avLst/>
          </a:prstGeom>
          <a:noFill/>
          <a:ln/>
        </p:spPr>
        <p:txBody>
          <a:bodyPr wrap="square" lIns="0" tIns="0" rIns="0" bIns="0" rtlCol="0" anchor="t"/>
          <a:lstStyle/>
          <a:p>
            <a:pPr indent="0" marL="0">
              <a:buNone/>
            </a:pPr>
            <a:r>
              <a:rPr lang="en-US" sz="1250" dirty="0">
                <a:solidFill>
                  <a:srgbClr val="E4DBD5"/>
                </a:solidFill>
                <a:latin typeface="Calibri" pitchFamily="34" charset="0"/>
                <a:ea typeface="Calibri" pitchFamily="34" charset="-122"/>
                <a:cs typeface="Calibri" pitchFamily="34" charset="-120"/>
              </a:rPr>
              <a:t>Elles figent l'interface et les parcours avant qu'on écrive le code de production. On évite ainsi de le réécrire, et les RH valident l'utilité métier avant qu'on investisse dans le backend.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38912"/>
            <a:ext cx="8229600" cy="274320"/>
          </a:xfrm>
          <a:prstGeom prst="rect">
            <a:avLst/>
          </a:prstGeom>
          <a:noFill/>
          <a:ln/>
        </p:spPr>
        <p:txBody>
          <a:bodyPr wrap="square" lIns="0" tIns="0" rIns="0" bIns="0" rtlCol="0" anchor="ctr"/>
          <a:lstStyle/>
          <a:p>
            <a:pPr indent="0" marL="0">
              <a:buNone/>
            </a:pPr>
            <a:r>
              <a:rPr lang="en-US" sz="1200" b="1" spc="100" kern="0" dirty="0">
                <a:solidFill>
                  <a:srgbClr val="F26322"/>
                </a:solidFill>
                <a:latin typeface="Arial" pitchFamily="34" charset="0"/>
                <a:ea typeface="Arial" pitchFamily="34" charset="-122"/>
                <a:cs typeface="Arial" pitchFamily="34" charset="-120"/>
              </a:rPr>
              <a:t>LIVRÉ  ·  LE SOCLE</a:t>
            </a:r>
            <a:endParaRPr lang="en-US" sz="1200" dirty="0"/>
          </a:p>
        </p:txBody>
      </p:sp>
      <p:sp>
        <p:nvSpPr>
          <p:cNvPr id="3" name="Text 1"/>
          <p:cNvSpPr/>
          <p:nvPr/>
        </p:nvSpPr>
        <p:spPr>
          <a:xfrm>
            <a:off x="566928" y="713232"/>
            <a:ext cx="9509760" cy="640080"/>
          </a:xfrm>
          <a:prstGeom prst="rect">
            <a:avLst/>
          </a:prstGeom>
          <a:noFill/>
          <a:ln/>
        </p:spPr>
        <p:txBody>
          <a:bodyPr wrap="square" lIns="0" tIns="0" rIns="0" bIns="0" rtlCol="0" anchor="ctr"/>
          <a:lstStyle/>
          <a:p>
            <a:pPr indent="0" marL="0">
              <a:buNone/>
            </a:pPr>
            <a:r>
              <a:rPr lang="en-US" sz="2900" b="1" dirty="0">
                <a:solidFill>
                  <a:srgbClr val="463838"/>
                </a:solidFill>
                <a:latin typeface="Arial" pitchFamily="34" charset="0"/>
                <a:ea typeface="Arial" pitchFamily="34" charset="-122"/>
                <a:cs typeface="Arial" pitchFamily="34" charset="-120"/>
              </a:rPr>
              <a:t>Une charte graphique verrouillée</a:t>
            </a:r>
            <a:endParaRPr lang="en-US" sz="2900" dirty="0"/>
          </a:p>
        </p:txBody>
      </p:sp>
      <p:pic>
        <p:nvPicPr>
          <p:cNvPr id="4" name="Image 0" descr="/tmp/claude-1000/-home-mamadbah-projects-quantum/9b48bb23-8032-4c5a-8882-a173fed48246/scratchpad/assets/mark-light-slides.png">    </p:cNvPr>
          <p:cNvPicPr>
            <a:picLocks noChangeAspect="1"/>
          </p:cNvPicPr>
          <p:nvPr/>
        </p:nvPicPr>
        <p:blipFill>
          <a:blip r:embed="rId1"/>
          <a:stretch>
            <a:fillRect/>
          </a:stretch>
        </p:blipFill>
        <p:spPr>
          <a:xfrm>
            <a:off x="11055096" y="420624"/>
            <a:ext cx="594360" cy="566928"/>
          </a:xfrm>
          <a:prstGeom prst="rect">
            <a:avLst/>
          </a:prstGeom>
        </p:spPr>
      </p:pic>
      <p:sp>
        <p:nvSpPr>
          <p:cNvPr id="5" name="Text 2"/>
          <p:cNvSpPr/>
          <p:nvPr/>
        </p:nvSpPr>
        <p:spPr>
          <a:xfrm>
            <a:off x="566928" y="6400800"/>
            <a:ext cx="5486400" cy="228600"/>
          </a:xfrm>
          <a:prstGeom prst="rect">
            <a:avLst/>
          </a:prstGeom>
          <a:noFill/>
          <a:ln/>
        </p:spPr>
        <p:txBody>
          <a:bodyPr wrap="square" lIns="0" tIns="0" rIns="0" bIns="0" rtlCol="0" anchor="ctr"/>
          <a:lstStyle/>
          <a:p>
            <a:pPr algn="l" indent="0" marL="0">
              <a:buNone/>
            </a:pPr>
            <a:r>
              <a:rPr lang="en-US" sz="900" dirty="0">
                <a:solidFill>
                  <a:srgbClr val="8A817C"/>
                </a:solidFill>
                <a:latin typeface="Calibri" pitchFamily="34" charset="0"/>
                <a:ea typeface="Calibri" pitchFamily="34" charset="-122"/>
                <a:cs typeface="Calibri" pitchFamily="34" charset="-120"/>
              </a:rPr>
              <a:t>CORICA Talent Quantum</a:t>
            </a:r>
            <a:endParaRPr lang="en-US" sz="900" dirty="0"/>
          </a:p>
        </p:txBody>
      </p:sp>
      <p:sp>
        <p:nvSpPr>
          <p:cNvPr id="6" name="Text 3"/>
          <p:cNvSpPr/>
          <p:nvPr/>
        </p:nvSpPr>
        <p:spPr>
          <a:xfrm>
            <a:off x="7964424" y="6400800"/>
            <a:ext cx="3657600" cy="228600"/>
          </a:xfrm>
          <a:prstGeom prst="rect">
            <a:avLst/>
          </a:prstGeom>
          <a:noFill/>
          <a:ln/>
        </p:spPr>
        <p:txBody>
          <a:bodyPr wrap="square" lIns="0" tIns="0" rIns="0" bIns="0" rtlCol="0" anchor="ctr"/>
          <a:lstStyle/>
          <a:p>
            <a:pPr algn="r" indent="0" marL="0">
              <a:buNone/>
            </a:pPr>
            <a:r>
              <a:rPr lang="en-US" sz="900" dirty="0">
                <a:solidFill>
                  <a:srgbClr val="8A817C"/>
                </a:solidFill>
                <a:latin typeface="Calibri" pitchFamily="34" charset="0"/>
                <a:ea typeface="Calibri" pitchFamily="34" charset="-122"/>
                <a:cs typeface="Calibri" pitchFamily="34" charset="-120"/>
              </a:rPr>
              <a:t>Direction visuelle   ·   3 / 5</a:t>
            </a:r>
            <a:endParaRPr lang="en-US" sz="900" dirty="0"/>
          </a:p>
        </p:txBody>
      </p:sp>
      <p:sp>
        <p:nvSpPr>
          <p:cNvPr id="7" name="Text 4"/>
          <p:cNvSpPr/>
          <p:nvPr/>
        </p:nvSpPr>
        <p:spPr>
          <a:xfrm>
            <a:off x="566928" y="1536192"/>
            <a:ext cx="10972800" cy="502920"/>
          </a:xfrm>
          <a:prstGeom prst="rect">
            <a:avLst/>
          </a:prstGeom>
          <a:noFill/>
          <a:ln/>
        </p:spPr>
        <p:txBody>
          <a:bodyPr wrap="square" lIns="0" tIns="0" rIns="0" bIns="0" rtlCol="0" anchor="t"/>
          <a:lstStyle/>
          <a:p>
            <a:pPr indent="0" marL="0">
              <a:buNone/>
            </a:pPr>
            <a:r>
              <a:rPr lang="en-US" sz="1550" dirty="0">
                <a:solidFill>
                  <a:srgbClr val="463838"/>
                </a:solidFill>
                <a:latin typeface="Calibri" pitchFamily="34" charset="0"/>
                <a:ea typeface="Calibri" pitchFamily="34" charset="-122"/>
                <a:cs typeface="Calibri" pitchFamily="34" charset="-120"/>
              </a:rPr>
              <a:t>Avant de dessiner le moindre écran, les règles ont été figées : une palette, deux polices auto-hébergées, une grammaire de composants réutilisables.</a:t>
            </a:r>
            <a:endParaRPr lang="en-US" sz="1550" dirty="0"/>
          </a:p>
        </p:txBody>
      </p:sp>
      <p:pic>
        <p:nvPicPr>
          <p:cNvPr id="8" name="Image 1" descr="/tmp/claude-1000/-home-mamadbah-projects-quantum/9b48bb23-8032-4c5a-8882-a173fed48246/scratchpad/assets/specimen.png">    </p:cNvPr>
          <p:cNvPicPr>
            <a:picLocks noChangeAspect="1"/>
          </p:cNvPicPr>
          <p:nvPr/>
        </p:nvPicPr>
        <p:blipFill>
          <a:blip r:embed="rId2"/>
          <a:stretch>
            <a:fillRect/>
          </a:stretch>
        </p:blipFill>
        <p:spPr>
          <a:xfrm>
            <a:off x="566928" y="2240280"/>
            <a:ext cx="11055096" cy="1752600"/>
          </a:xfrm>
          <a:prstGeom prst="rect">
            <a:avLst/>
          </a:prstGeom>
        </p:spPr>
      </p:pic>
      <p:sp>
        <p:nvSpPr>
          <p:cNvPr id="9" name="Shape 5"/>
          <p:cNvSpPr/>
          <p:nvPr/>
        </p:nvSpPr>
        <p:spPr>
          <a:xfrm>
            <a:off x="566928" y="4197096"/>
            <a:ext cx="11055096" cy="914400"/>
          </a:xfrm>
          <a:prstGeom prst="rect">
            <a:avLst/>
          </a:prstGeom>
          <a:solidFill>
            <a:srgbClr val="FFFFFF"/>
          </a:solidFill>
          <a:ln w="12700">
            <a:solidFill>
              <a:srgbClr val="E7E2DB"/>
            </a:solidFill>
            <a:prstDash val="solid"/>
          </a:ln>
        </p:spPr>
      </p:sp>
      <p:sp>
        <p:nvSpPr>
          <p:cNvPr id="10" name="Text 6"/>
          <p:cNvSpPr/>
          <p:nvPr/>
        </p:nvSpPr>
        <p:spPr>
          <a:xfrm>
            <a:off x="932688" y="4325112"/>
            <a:ext cx="2377440" cy="475488"/>
          </a:xfrm>
          <a:prstGeom prst="rect">
            <a:avLst/>
          </a:prstGeom>
          <a:noFill/>
          <a:ln/>
        </p:spPr>
        <p:txBody>
          <a:bodyPr wrap="square" lIns="0" tIns="0" rIns="0" bIns="0" rtlCol="0" anchor="ctr"/>
          <a:lstStyle/>
          <a:p>
            <a:pPr indent="0" marL="0">
              <a:buNone/>
            </a:pPr>
            <a:r>
              <a:rPr lang="en-US" sz="3000" b="1" dirty="0">
                <a:solidFill>
                  <a:srgbClr val="F26322"/>
                </a:solidFill>
                <a:latin typeface="Arial" pitchFamily="34" charset="0"/>
                <a:ea typeface="Arial" pitchFamily="34" charset="-122"/>
                <a:cs typeface="Arial" pitchFamily="34" charset="-120"/>
              </a:rPr>
              <a:t>9</a:t>
            </a:r>
            <a:endParaRPr lang="en-US" sz="3000" dirty="0"/>
          </a:p>
        </p:txBody>
      </p:sp>
      <p:sp>
        <p:nvSpPr>
          <p:cNvPr id="11" name="Text 7"/>
          <p:cNvSpPr/>
          <p:nvPr/>
        </p:nvSpPr>
        <p:spPr>
          <a:xfrm>
            <a:off x="932688" y="4800600"/>
            <a:ext cx="2377440" cy="274320"/>
          </a:xfrm>
          <a:prstGeom prst="rect">
            <a:avLst/>
          </a:prstGeom>
          <a:noFill/>
          <a:ln/>
        </p:spPr>
        <p:txBody>
          <a:bodyPr wrap="square" lIns="0" tIns="0" rIns="0" bIns="0" rtlCol="0" anchor="ctr"/>
          <a:lstStyle/>
          <a:p>
            <a:pPr indent="0" marL="0">
              <a:buNone/>
            </a:pPr>
            <a:r>
              <a:rPr lang="en-US" sz="1250" dirty="0">
                <a:solidFill>
                  <a:srgbClr val="463838"/>
                </a:solidFill>
                <a:latin typeface="Calibri" pitchFamily="34" charset="0"/>
                <a:ea typeface="Calibri" pitchFamily="34" charset="-122"/>
                <a:cs typeface="Calibri" pitchFamily="34" charset="-120"/>
              </a:rPr>
              <a:t>écrans de référence</a:t>
            </a:r>
            <a:endParaRPr lang="en-US" sz="1250" dirty="0"/>
          </a:p>
        </p:txBody>
      </p:sp>
      <p:sp>
        <p:nvSpPr>
          <p:cNvPr id="12" name="Shape 8"/>
          <p:cNvSpPr/>
          <p:nvPr/>
        </p:nvSpPr>
        <p:spPr>
          <a:xfrm>
            <a:off x="3447288" y="4379976"/>
            <a:ext cx="0" cy="548640"/>
          </a:xfrm>
          <a:prstGeom prst="rect">
            <a:avLst/>
          </a:prstGeom>
          <a:noFill/>
          <a:ln w="12700">
            <a:solidFill>
              <a:srgbClr val="E7E2DB"/>
            </a:solidFill>
            <a:prstDash val="solid"/>
          </a:ln>
        </p:spPr>
      </p:sp>
      <p:sp>
        <p:nvSpPr>
          <p:cNvPr id="13" name="Text 9"/>
          <p:cNvSpPr/>
          <p:nvPr/>
        </p:nvSpPr>
        <p:spPr>
          <a:xfrm>
            <a:off x="3675888" y="4325112"/>
            <a:ext cx="2377440" cy="475488"/>
          </a:xfrm>
          <a:prstGeom prst="rect">
            <a:avLst/>
          </a:prstGeom>
          <a:noFill/>
          <a:ln/>
        </p:spPr>
        <p:txBody>
          <a:bodyPr wrap="square" lIns="0" tIns="0" rIns="0" bIns="0" rtlCol="0" anchor="ctr"/>
          <a:lstStyle/>
          <a:p>
            <a:pPr indent="0" marL="0">
              <a:buNone/>
            </a:pPr>
            <a:r>
              <a:rPr lang="en-US" sz="3000" b="1" dirty="0">
                <a:solidFill>
                  <a:srgbClr val="F26322"/>
                </a:solidFill>
                <a:latin typeface="Arial" pitchFamily="34" charset="0"/>
                <a:ea typeface="Arial" pitchFamily="34" charset="-122"/>
                <a:cs typeface="Arial" pitchFamily="34" charset="-120"/>
              </a:rPr>
              <a:t>21</a:t>
            </a:r>
            <a:endParaRPr lang="en-US" sz="3000" dirty="0"/>
          </a:p>
        </p:txBody>
      </p:sp>
      <p:sp>
        <p:nvSpPr>
          <p:cNvPr id="14" name="Text 10"/>
          <p:cNvSpPr/>
          <p:nvPr/>
        </p:nvSpPr>
        <p:spPr>
          <a:xfrm>
            <a:off x="3675888" y="4800600"/>
            <a:ext cx="2377440" cy="274320"/>
          </a:xfrm>
          <a:prstGeom prst="rect">
            <a:avLst/>
          </a:prstGeom>
          <a:noFill/>
          <a:ln/>
        </p:spPr>
        <p:txBody>
          <a:bodyPr wrap="square" lIns="0" tIns="0" rIns="0" bIns="0" rtlCol="0" anchor="ctr"/>
          <a:lstStyle/>
          <a:p>
            <a:pPr indent="0" marL="0">
              <a:buNone/>
            </a:pPr>
            <a:r>
              <a:rPr lang="en-US" sz="1250" dirty="0">
                <a:solidFill>
                  <a:srgbClr val="463838"/>
                </a:solidFill>
                <a:latin typeface="Calibri" pitchFamily="34" charset="0"/>
                <a:ea typeface="Calibri" pitchFamily="34" charset="-122"/>
                <a:cs typeface="Calibri" pitchFamily="34" charset="-120"/>
              </a:rPr>
              <a:t>composants réutilisables</a:t>
            </a:r>
            <a:endParaRPr lang="en-US" sz="1250" dirty="0"/>
          </a:p>
        </p:txBody>
      </p:sp>
      <p:sp>
        <p:nvSpPr>
          <p:cNvPr id="15" name="Shape 11"/>
          <p:cNvSpPr/>
          <p:nvPr/>
        </p:nvSpPr>
        <p:spPr>
          <a:xfrm>
            <a:off x="6190488" y="4379976"/>
            <a:ext cx="0" cy="548640"/>
          </a:xfrm>
          <a:prstGeom prst="rect">
            <a:avLst/>
          </a:prstGeom>
          <a:noFill/>
          <a:ln w="12700">
            <a:solidFill>
              <a:srgbClr val="E7E2DB"/>
            </a:solidFill>
            <a:prstDash val="solid"/>
          </a:ln>
        </p:spPr>
      </p:sp>
      <p:sp>
        <p:nvSpPr>
          <p:cNvPr id="16" name="Text 12"/>
          <p:cNvSpPr/>
          <p:nvPr/>
        </p:nvSpPr>
        <p:spPr>
          <a:xfrm>
            <a:off x="6419088" y="4325112"/>
            <a:ext cx="2377440" cy="475488"/>
          </a:xfrm>
          <a:prstGeom prst="rect">
            <a:avLst/>
          </a:prstGeom>
          <a:noFill/>
          <a:ln/>
        </p:spPr>
        <p:txBody>
          <a:bodyPr wrap="square" lIns="0" tIns="0" rIns="0" bIns="0" rtlCol="0" anchor="ctr"/>
          <a:lstStyle/>
          <a:p>
            <a:pPr indent="0" marL="0">
              <a:buNone/>
            </a:pPr>
            <a:r>
              <a:rPr lang="en-US" sz="3000" b="1" dirty="0">
                <a:solidFill>
                  <a:srgbClr val="F26322"/>
                </a:solidFill>
                <a:latin typeface="Arial" pitchFamily="34" charset="0"/>
                <a:ea typeface="Arial" pitchFamily="34" charset="-122"/>
                <a:cs typeface="Arial" pitchFamily="34" charset="-120"/>
              </a:rPr>
              <a:t>2</a:t>
            </a:r>
            <a:endParaRPr lang="en-US" sz="3000" dirty="0"/>
          </a:p>
        </p:txBody>
      </p:sp>
      <p:sp>
        <p:nvSpPr>
          <p:cNvPr id="17" name="Text 13"/>
          <p:cNvSpPr/>
          <p:nvPr/>
        </p:nvSpPr>
        <p:spPr>
          <a:xfrm>
            <a:off x="6419088" y="4800600"/>
            <a:ext cx="2377440" cy="274320"/>
          </a:xfrm>
          <a:prstGeom prst="rect">
            <a:avLst/>
          </a:prstGeom>
          <a:noFill/>
          <a:ln/>
        </p:spPr>
        <p:txBody>
          <a:bodyPr wrap="square" lIns="0" tIns="0" rIns="0" bIns="0" rtlCol="0" anchor="ctr"/>
          <a:lstStyle/>
          <a:p>
            <a:pPr indent="0" marL="0">
              <a:buNone/>
            </a:pPr>
            <a:r>
              <a:rPr lang="en-US" sz="1250" dirty="0">
                <a:solidFill>
                  <a:srgbClr val="463838"/>
                </a:solidFill>
                <a:latin typeface="Calibri" pitchFamily="34" charset="0"/>
                <a:ea typeface="Calibri" pitchFamily="34" charset="-122"/>
                <a:cs typeface="Calibri" pitchFamily="34" charset="-120"/>
              </a:rPr>
              <a:t>polices auto-hébergées</a:t>
            </a:r>
            <a:endParaRPr lang="en-US" sz="1250" dirty="0"/>
          </a:p>
        </p:txBody>
      </p:sp>
      <p:sp>
        <p:nvSpPr>
          <p:cNvPr id="18" name="Shape 14"/>
          <p:cNvSpPr/>
          <p:nvPr/>
        </p:nvSpPr>
        <p:spPr>
          <a:xfrm>
            <a:off x="8933688" y="4379976"/>
            <a:ext cx="0" cy="548640"/>
          </a:xfrm>
          <a:prstGeom prst="rect">
            <a:avLst/>
          </a:prstGeom>
          <a:noFill/>
          <a:ln w="12700">
            <a:solidFill>
              <a:srgbClr val="E7E2DB"/>
            </a:solidFill>
            <a:prstDash val="solid"/>
          </a:ln>
        </p:spPr>
      </p:sp>
      <p:sp>
        <p:nvSpPr>
          <p:cNvPr id="19" name="Text 15"/>
          <p:cNvSpPr/>
          <p:nvPr/>
        </p:nvSpPr>
        <p:spPr>
          <a:xfrm>
            <a:off x="9162288" y="4325112"/>
            <a:ext cx="2377440" cy="475488"/>
          </a:xfrm>
          <a:prstGeom prst="rect">
            <a:avLst/>
          </a:prstGeom>
          <a:noFill/>
          <a:ln/>
        </p:spPr>
        <p:txBody>
          <a:bodyPr wrap="square" lIns="0" tIns="0" rIns="0" bIns="0" rtlCol="0" anchor="ctr"/>
          <a:lstStyle/>
          <a:p>
            <a:pPr indent="0" marL="0">
              <a:buNone/>
            </a:pPr>
            <a:r>
              <a:rPr lang="en-US" sz="3000" b="1" dirty="0">
                <a:solidFill>
                  <a:srgbClr val="F26322"/>
                </a:solidFill>
                <a:latin typeface="Arial" pitchFamily="34" charset="0"/>
                <a:ea typeface="Arial" pitchFamily="34" charset="-122"/>
                <a:cs typeface="Arial" pitchFamily="34" charset="-120"/>
              </a:rPr>
              <a:t>0</a:t>
            </a:r>
            <a:endParaRPr lang="en-US" sz="3000" dirty="0"/>
          </a:p>
        </p:txBody>
      </p:sp>
      <p:sp>
        <p:nvSpPr>
          <p:cNvPr id="20" name="Text 16"/>
          <p:cNvSpPr/>
          <p:nvPr/>
        </p:nvSpPr>
        <p:spPr>
          <a:xfrm>
            <a:off x="9162288" y="4800600"/>
            <a:ext cx="2377440" cy="274320"/>
          </a:xfrm>
          <a:prstGeom prst="rect">
            <a:avLst/>
          </a:prstGeom>
          <a:noFill/>
          <a:ln/>
        </p:spPr>
        <p:txBody>
          <a:bodyPr wrap="square" lIns="0" tIns="0" rIns="0" bIns="0" rtlCol="0" anchor="ctr"/>
          <a:lstStyle/>
          <a:p>
            <a:pPr indent="0" marL="0">
              <a:buNone/>
            </a:pPr>
            <a:r>
              <a:rPr lang="en-US" sz="1250" dirty="0">
                <a:solidFill>
                  <a:srgbClr val="463838"/>
                </a:solidFill>
                <a:latin typeface="Calibri" pitchFamily="34" charset="0"/>
                <a:ea typeface="Calibri" pitchFamily="34" charset="-122"/>
                <a:cs typeface="Calibri" pitchFamily="34" charset="-120"/>
              </a:rPr>
              <a:t>ressource externe</a:t>
            </a:r>
            <a:endParaRPr lang="en-US" sz="1250" dirty="0"/>
          </a:p>
        </p:txBody>
      </p:sp>
      <p:sp>
        <p:nvSpPr>
          <p:cNvPr id="21" name="Shape 17"/>
          <p:cNvSpPr/>
          <p:nvPr/>
        </p:nvSpPr>
        <p:spPr>
          <a:xfrm>
            <a:off x="566928" y="5312664"/>
            <a:ext cx="11055096" cy="822960"/>
          </a:xfrm>
          <a:prstGeom prst="rect">
            <a:avLst/>
          </a:prstGeom>
          <a:solidFill>
            <a:srgbClr val="463838"/>
          </a:solidFill>
          <a:ln/>
        </p:spPr>
      </p:sp>
      <p:sp>
        <p:nvSpPr>
          <p:cNvPr id="22" name="Shape 18"/>
          <p:cNvSpPr/>
          <p:nvPr/>
        </p:nvSpPr>
        <p:spPr>
          <a:xfrm>
            <a:off x="566928" y="5312664"/>
            <a:ext cx="109728" cy="822960"/>
          </a:xfrm>
          <a:prstGeom prst="rect">
            <a:avLst/>
          </a:prstGeom>
          <a:solidFill>
            <a:srgbClr val="F26322"/>
          </a:solidFill>
          <a:ln/>
        </p:spPr>
      </p:sp>
      <p:sp>
        <p:nvSpPr>
          <p:cNvPr id="23" name="Text 19"/>
          <p:cNvSpPr/>
          <p:nvPr/>
        </p:nvSpPr>
        <p:spPr>
          <a:xfrm>
            <a:off x="932688" y="5449824"/>
            <a:ext cx="10424160" cy="347472"/>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Dans l'application, l'orange signale une action — jamais une donnée.</a:t>
            </a:r>
            <a:endParaRPr lang="en-US" sz="1550" dirty="0"/>
          </a:p>
        </p:txBody>
      </p:sp>
      <p:sp>
        <p:nvSpPr>
          <p:cNvPr id="24" name="Text 20"/>
          <p:cNvSpPr/>
          <p:nvPr/>
        </p:nvSpPr>
        <p:spPr>
          <a:xfrm>
            <a:off x="932688" y="5824728"/>
            <a:ext cx="10424160" cy="237744"/>
          </a:xfrm>
          <a:prstGeom prst="rect">
            <a:avLst/>
          </a:prstGeom>
          <a:noFill/>
          <a:ln/>
        </p:spPr>
        <p:txBody>
          <a:bodyPr wrap="square" lIns="0" tIns="0" rIns="0" bIns="0" rtlCol="0" anchor="t"/>
          <a:lstStyle/>
          <a:p>
            <a:pPr indent="0" marL="0">
              <a:buNone/>
            </a:pPr>
            <a:r>
              <a:rPr lang="en-US" sz="1250" dirty="0">
                <a:solidFill>
                  <a:srgbClr val="E4DBD5"/>
                </a:solidFill>
                <a:latin typeface="Calibri" pitchFamily="34" charset="0"/>
                <a:ea typeface="Calibri" pitchFamily="34" charset="-122"/>
                <a:cs typeface="Calibri" pitchFamily="34" charset="-120"/>
              </a:rPr>
              <a:t>Les niveaux de compétence et la 9-box utilisent une échelle de bruns. Contrastes conformes WCAG AA, y compris le texte sur orange.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38912"/>
            <a:ext cx="8229600" cy="274320"/>
          </a:xfrm>
          <a:prstGeom prst="rect">
            <a:avLst/>
          </a:prstGeom>
          <a:noFill/>
          <a:ln/>
        </p:spPr>
        <p:txBody>
          <a:bodyPr wrap="square" lIns="0" tIns="0" rIns="0" bIns="0" rtlCol="0" anchor="ctr"/>
          <a:lstStyle/>
          <a:p>
            <a:pPr indent="0" marL="0">
              <a:buNone/>
            </a:pPr>
            <a:r>
              <a:rPr lang="en-US" sz="1200" b="1" spc="100" kern="0" dirty="0">
                <a:solidFill>
                  <a:srgbClr val="F26322"/>
                </a:solidFill>
                <a:latin typeface="Arial" pitchFamily="34" charset="0"/>
                <a:ea typeface="Arial" pitchFamily="34" charset="-122"/>
                <a:cs typeface="Arial" pitchFamily="34" charset="-120"/>
              </a:rPr>
              <a:t>LIVRÉ  ·  LA DÉMONSTRATION</a:t>
            </a:r>
            <a:endParaRPr lang="en-US" sz="1200" dirty="0"/>
          </a:p>
        </p:txBody>
      </p:sp>
      <p:sp>
        <p:nvSpPr>
          <p:cNvPr id="3" name="Text 1"/>
          <p:cNvSpPr/>
          <p:nvPr/>
        </p:nvSpPr>
        <p:spPr>
          <a:xfrm>
            <a:off x="566928" y="713232"/>
            <a:ext cx="9509760" cy="640080"/>
          </a:xfrm>
          <a:prstGeom prst="rect">
            <a:avLst/>
          </a:prstGeom>
          <a:noFill/>
          <a:ln/>
        </p:spPr>
        <p:txBody>
          <a:bodyPr wrap="square" lIns="0" tIns="0" rIns="0" bIns="0" rtlCol="0" anchor="ctr"/>
          <a:lstStyle/>
          <a:p>
            <a:pPr indent="0" marL="0">
              <a:buNone/>
            </a:pPr>
            <a:r>
              <a:rPr lang="en-US" sz="2900" b="1" dirty="0">
                <a:solidFill>
                  <a:srgbClr val="463838"/>
                </a:solidFill>
                <a:latin typeface="Arial" pitchFamily="34" charset="0"/>
                <a:ea typeface="Arial" pitchFamily="34" charset="-122"/>
                <a:cs typeface="Arial" pitchFamily="34" charset="-120"/>
              </a:rPr>
              <a:t>Le parcours Employé, de bout en bout</a:t>
            </a:r>
            <a:endParaRPr lang="en-US" sz="2900" dirty="0"/>
          </a:p>
        </p:txBody>
      </p:sp>
      <p:pic>
        <p:nvPicPr>
          <p:cNvPr id="4" name="Image 0" descr="/tmp/claude-1000/-home-mamadbah-projects-quantum/9b48bb23-8032-4c5a-8882-a173fed48246/scratchpad/assets/mark-light-slides.png">    </p:cNvPr>
          <p:cNvPicPr>
            <a:picLocks noChangeAspect="1"/>
          </p:cNvPicPr>
          <p:nvPr/>
        </p:nvPicPr>
        <p:blipFill>
          <a:blip r:embed="rId1"/>
          <a:stretch>
            <a:fillRect/>
          </a:stretch>
        </p:blipFill>
        <p:spPr>
          <a:xfrm>
            <a:off x="11055096" y="420624"/>
            <a:ext cx="594360" cy="566928"/>
          </a:xfrm>
          <a:prstGeom prst="rect">
            <a:avLst/>
          </a:prstGeom>
        </p:spPr>
      </p:pic>
      <p:sp>
        <p:nvSpPr>
          <p:cNvPr id="5" name="Text 2"/>
          <p:cNvSpPr/>
          <p:nvPr/>
        </p:nvSpPr>
        <p:spPr>
          <a:xfrm>
            <a:off x="566928" y="6400800"/>
            <a:ext cx="5486400" cy="228600"/>
          </a:xfrm>
          <a:prstGeom prst="rect">
            <a:avLst/>
          </a:prstGeom>
          <a:noFill/>
          <a:ln/>
        </p:spPr>
        <p:txBody>
          <a:bodyPr wrap="square" lIns="0" tIns="0" rIns="0" bIns="0" rtlCol="0" anchor="ctr"/>
          <a:lstStyle/>
          <a:p>
            <a:pPr algn="l" indent="0" marL="0">
              <a:buNone/>
            </a:pPr>
            <a:r>
              <a:rPr lang="en-US" sz="900" dirty="0">
                <a:solidFill>
                  <a:srgbClr val="8A817C"/>
                </a:solidFill>
                <a:latin typeface="Calibri" pitchFamily="34" charset="0"/>
                <a:ea typeface="Calibri" pitchFamily="34" charset="-122"/>
                <a:cs typeface="Calibri" pitchFamily="34" charset="-120"/>
              </a:rPr>
              <a:t>CORICA Talent Quantum</a:t>
            </a:r>
            <a:endParaRPr lang="en-US" sz="900" dirty="0"/>
          </a:p>
        </p:txBody>
      </p:sp>
      <p:sp>
        <p:nvSpPr>
          <p:cNvPr id="6" name="Text 3"/>
          <p:cNvSpPr/>
          <p:nvPr/>
        </p:nvSpPr>
        <p:spPr>
          <a:xfrm>
            <a:off x="7964424" y="6400800"/>
            <a:ext cx="3657600" cy="228600"/>
          </a:xfrm>
          <a:prstGeom prst="rect">
            <a:avLst/>
          </a:prstGeom>
          <a:noFill/>
          <a:ln/>
        </p:spPr>
        <p:txBody>
          <a:bodyPr wrap="square" lIns="0" tIns="0" rIns="0" bIns="0" rtlCol="0" anchor="ctr"/>
          <a:lstStyle/>
          <a:p>
            <a:pPr algn="r" indent="0" marL="0">
              <a:buNone/>
            </a:pPr>
            <a:r>
              <a:rPr lang="en-US" sz="900" dirty="0">
                <a:solidFill>
                  <a:srgbClr val="8A817C"/>
                </a:solidFill>
                <a:latin typeface="Calibri" pitchFamily="34" charset="0"/>
                <a:ea typeface="Calibri" pitchFamily="34" charset="-122"/>
                <a:cs typeface="Calibri" pitchFamily="34" charset="-120"/>
              </a:rPr>
              <a:t>Direction visuelle   ·   4 / 5</a:t>
            </a:r>
            <a:endParaRPr lang="en-US" sz="900" dirty="0"/>
          </a:p>
        </p:txBody>
      </p:sp>
      <p:sp>
        <p:nvSpPr>
          <p:cNvPr id="7" name="Text 4"/>
          <p:cNvSpPr/>
          <p:nvPr/>
        </p:nvSpPr>
        <p:spPr>
          <a:xfrm>
            <a:off x="566928" y="1536192"/>
            <a:ext cx="10972800" cy="502920"/>
          </a:xfrm>
          <a:prstGeom prst="rect">
            <a:avLst/>
          </a:prstGeom>
          <a:noFill/>
          <a:ln/>
        </p:spPr>
        <p:txBody>
          <a:bodyPr wrap="square" lIns="0" tIns="0" rIns="0" bIns="0" rtlCol="0" anchor="t"/>
          <a:lstStyle/>
          <a:p>
            <a:pPr indent="0" marL="0">
              <a:buNone/>
            </a:pPr>
            <a:r>
              <a:rPr lang="en-US" sz="1550" dirty="0">
                <a:solidFill>
                  <a:srgbClr val="463838"/>
                </a:solidFill>
                <a:latin typeface="Calibri" pitchFamily="34" charset="0"/>
                <a:ea typeface="Calibri" pitchFamily="34" charset="-122"/>
                <a:cs typeface="Calibri" pitchFamily="34" charset="-120"/>
              </a:rPr>
              <a:t>Les cinq écrans du collaborateur sont maquettés et navigables, remplis de données réalistes — de la saisie des objectifs à la fiche d'évaluation imprimable.</a:t>
            </a:r>
            <a:endParaRPr lang="en-US" sz="1550" dirty="0"/>
          </a:p>
        </p:txBody>
      </p:sp>
      <p:sp>
        <p:nvSpPr>
          <p:cNvPr id="8" name="Shape 5"/>
          <p:cNvSpPr/>
          <p:nvPr/>
        </p:nvSpPr>
        <p:spPr>
          <a:xfrm>
            <a:off x="548640" y="2084832"/>
            <a:ext cx="6437376" cy="3659251"/>
          </a:xfrm>
          <a:prstGeom prst="rect">
            <a:avLst/>
          </a:prstGeom>
          <a:solidFill>
            <a:srgbClr val="FFFFFF"/>
          </a:solidFill>
          <a:ln w="12700">
            <a:solidFill>
              <a:srgbClr val="E7E2DB"/>
            </a:solidFill>
            <a:prstDash val="solid"/>
          </a:ln>
        </p:spPr>
      </p:sp>
      <p:pic>
        <p:nvPicPr>
          <p:cNvPr id="9" name="Image 1" descr="/tmp/claude-1000/-home-mamadbah-projects-quantum/9b48bb23-8032-4c5a-8882-a173fed48246/scratchpad/assets/emp-dashboard.png">    </p:cNvPr>
          <p:cNvPicPr>
            <a:picLocks noChangeAspect="1"/>
          </p:cNvPicPr>
          <p:nvPr/>
        </p:nvPicPr>
        <p:blipFill>
          <a:blip r:embed="rId2"/>
          <a:stretch>
            <a:fillRect/>
          </a:stretch>
        </p:blipFill>
        <p:spPr>
          <a:xfrm>
            <a:off x="566928" y="2103120"/>
            <a:ext cx="6400800" cy="3622675"/>
          </a:xfrm>
          <a:prstGeom prst="rect">
            <a:avLst/>
          </a:prstGeom>
        </p:spPr>
      </p:pic>
      <p:sp>
        <p:nvSpPr>
          <p:cNvPr id="10" name="Text 6"/>
          <p:cNvSpPr/>
          <p:nvPr/>
        </p:nvSpPr>
        <p:spPr>
          <a:xfrm>
            <a:off x="566928" y="5780659"/>
            <a:ext cx="6400800" cy="182880"/>
          </a:xfrm>
          <a:prstGeom prst="rect">
            <a:avLst/>
          </a:prstGeom>
          <a:noFill/>
          <a:ln/>
        </p:spPr>
        <p:txBody>
          <a:bodyPr wrap="square" lIns="0" tIns="0" rIns="0" bIns="0" rtlCol="0" anchor="ctr"/>
          <a:lstStyle/>
          <a:p>
            <a:pPr indent="0" marL="0">
              <a:buNone/>
            </a:pPr>
            <a:r>
              <a:rPr lang="en-US" sz="950" i="1" dirty="0">
                <a:solidFill>
                  <a:srgbClr val="8A817C"/>
                </a:solidFill>
                <a:latin typeface="Calibri" pitchFamily="34" charset="0"/>
                <a:ea typeface="Calibri" pitchFamily="34" charset="-122"/>
                <a:cs typeface="Calibri" pitchFamily="34" charset="-120"/>
              </a:rPr>
              <a:t>Tableau de bord du collaborateur — maquette réelle</a:t>
            </a:r>
            <a:endParaRPr lang="en-US" sz="950" dirty="0"/>
          </a:p>
        </p:txBody>
      </p:sp>
      <p:sp>
        <p:nvSpPr>
          <p:cNvPr id="11" name="Text 7"/>
          <p:cNvSpPr/>
          <p:nvPr/>
        </p:nvSpPr>
        <p:spPr>
          <a:xfrm>
            <a:off x="7315200" y="2103120"/>
            <a:ext cx="4306824" cy="228600"/>
          </a:xfrm>
          <a:prstGeom prst="rect">
            <a:avLst/>
          </a:prstGeom>
          <a:noFill/>
          <a:ln/>
        </p:spPr>
        <p:txBody>
          <a:bodyPr wrap="square" lIns="0" tIns="0" rIns="0" bIns="0" rtlCol="0" anchor="ctr"/>
          <a:lstStyle/>
          <a:p>
            <a:pPr indent="0" marL="0">
              <a:buNone/>
            </a:pPr>
            <a:r>
              <a:rPr lang="en-US" sz="1100" b="1" spc="100" kern="0" dirty="0">
                <a:solidFill>
                  <a:srgbClr val="8A817C"/>
                </a:solidFill>
                <a:latin typeface="Arial" pitchFamily="34" charset="0"/>
                <a:ea typeface="Arial" pitchFamily="34" charset="-122"/>
                <a:cs typeface="Arial" pitchFamily="34" charset="-120"/>
              </a:rPr>
              <a:t>LES CINQ ÉCRANS</a:t>
            </a:r>
            <a:endParaRPr lang="en-US" sz="1100" dirty="0"/>
          </a:p>
        </p:txBody>
      </p:sp>
      <p:pic>
        <p:nvPicPr>
          <p:cNvPr id="12" name="Image 2" descr="/tmp/claude-1000/-home-mamadbah-projects-quantum/9b48bb23-8032-4c5a-8882-a173fed48246/scratchpad/assets/check-circle.png">    </p:cNvPr>
          <p:cNvPicPr>
            <a:picLocks noChangeAspect="1"/>
          </p:cNvPicPr>
          <p:nvPr/>
        </p:nvPicPr>
        <p:blipFill>
          <a:blip r:embed="rId3"/>
          <a:stretch>
            <a:fillRect/>
          </a:stretch>
        </p:blipFill>
        <p:spPr>
          <a:xfrm>
            <a:off x="7315200" y="2523744"/>
            <a:ext cx="201168" cy="201168"/>
          </a:xfrm>
          <a:prstGeom prst="rect">
            <a:avLst/>
          </a:prstGeom>
        </p:spPr>
      </p:pic>
      <p:sp>
        <p:nvSpPr>
          <p:cNvPr id="13" name="Text 8"/>
          <p:cNvSpPr/>
          <p:nvPr/>
        </p:nvSpPr>
        <p:spPr>
          <a:xfrm>
            <a:off x="7644384" y="2487168"/>
            <a:ext cx="3977640" cy="274320"/>
          </a:xfrm>
          <a:prstGeom prst="rect">
            <a:avLst/>
          </a:prstGeom>
          <a:noFill/>
          <a:ln/>
        </p:spPr>
        <p:txBody>
          <a:bodyPr wrap="square" lIns="0" tIns="0" rIns="0" bIns="0" rtlCol="0" anchor="ctr"/>
          <a:lstStyle/>
          <a:p>
            <a:pPr indent="0" marL="0">
              <a:buNone/>
            </a:pPr>
            <a:r>
              <a:rPr lang="en-US" sz="1350" b="1" dirty="0">
                <a:solidFill>
                  <a:srgbClr val="463838"/>
                </a:solidFill>
                <a:latin typeface="Calibri" pitchFamily="34" charset="0"/>
                <a:ea typeface="Calibri" pitchFamily="34" charset="-122"/>
                <a:cs typeface="Calibri" pitchFamily="34" charset="-120"/>
              </a:rPr>
              <a:t>Tableau de bord</a:t>
            </a:r>
            <a:endParaRPr lang="en-US" sz="1350" dirty="0"/>
          </a:p>
        </p:txBody>
      </p:sp>
      <p:pic>
        <p:nvPicPr>
          <p:cNvPr id="14" name="Image 3" descr="/tmp/claude-1000/-home-mamadbah-projects-quantum/9b48bb23-8032-4c5a-8882-a173fed48246/scratchpad/assets/check-circle.png">    </p:cNvPr>
          <p:cNvPicPr>
            <a:picLocks noChangeAspect="1"/>
          </p:cNvPicPr>
          <p:nvPr/>
        </p:nvPicPr>
        <p:blipFill>
          <a:blip r:embed="rId4"/>
          <a:stretch>
            <a:fillRect/>
          </a:stretch>
        </p:blipFill>
        <p:spPr>
          <a:xfrm>
            <a:off x="7315200" y="2962656"/>
            <a:ext cx="201168" cy="201168"/>
          </a:xfrm>
          <a:prstGeom prst="rect">
            <a:avLst/>
          </a:prstGeom>
        </p:spPr>
      </p:pic>
      <p:sp>
        <p:nvSpPr>
          <p:cNvPr id="15" name="Text 9"/>
          <p:cNvSpPr/>
          <p:nvPr/>
        </p:nvSpPr>
        <p:spPr>
          <a:xfrm>
            <a:off x="7644384" y="2926080"/>
            <a:ext cx="3977640" cy="274320"/>
          </a:xfrm>
          <a:prstGeom prst="rect">
            <a:avLst/>
          </a:prstGeom>
          <a:noFill/>
          <a:ln/>
        </p:spPr>
        <p:txBody>
          <a:bodyPr wrap="square" lIns="0" tIns="0" rIns="0" bIns="0" rtlCol="0" anchor="ctr"/>
          <a:lstStyle/>
          <a:p>
            <a:pPr indent="0" marL="0">
              <a:buNone/>
            </a:pPr>
            <a:r>
              <a:rPr lang="en-US" sz="1350" b="1" dirty="0">
                <a:solidFill>
                  <a:srgbClr val="463838"/>
                </a:solidFill>
                <a:latin typeface="Calibri" pitchFamily="34" charset="0"/>
                <a:ea typeface="Calibri" pitchFamily="34" charset="-122"/>
                <a:cs typeface="Calibri" pitchFamily="34" charset="-120"/>
              </a:rPr>
              <a:t>Mes objectifs de performance</a:t>
            </a:r>
            <a:endParaRPr lang="en-US" sz="1350" dirty="0"/>
          </a:p>
        </p:txBody>
      </p:sp>
      <p:pic>
        <p:nvPicPr>
          <p:cNvPr id="16" name="Image 4" descr="/tmp/claude-1000/-home-mamadbah-projects-quantum/9b48bb23-8032-4c5a-8882-a173fed48246/scratchpad/assets/check-circle.png">    </p:cNvPr>
          <p:cNvPicPr>
            <a:picLocks noChangeAspect="1"/>
          </p:cNvPicPr>
          <p:nvPr/>
        </p:nvPicPr>
        <p:blipFill>
          <a:blip r:embed="rId5"/>
          <a:stretch>
            <a:fillRect/>
          </a:stretch>
        </p:blipFill>
        <p:spPr>
          <a:xfrm>
            <a:off x="7315200" y="3401568"/>
            <a:ext cx="201168" cy="201168"/>
          </a:xfrm>
          <a:prstGeom prst="rect">
            <a:avLst/>
          </a:prstGeom>
        </p:spPr>
      </p:pic>
      <p:sp>
        <p:nvSpPr>
          <p:cNvPr id="17" name="Text 10"/>
          <p:cNvSpPr/>
          <p:nvPr/>
        </p:nvSpPr>
        <p:spPr>
          <a:xfrm>
            <a:off x="7644384" y="3364992"/>
            <a:ext cx="3977640" cy="274320"/>
          </a:xfrm>
          <a:prstGeom prst="rect">
            <a:avLst/>
          </a:prstGeom>
          <a:noFill/>
          <a:ln/>
        </p:spPr>
        <p:txBody>
          <a:bodyPr wrap="square" lIns="0" tIns="0" rIns="0" bIns="0" rtlCol="0" anchor="ctr"/>
          <a:lstStyle/>
          <a:p>
            <a:pPr indent="0" marL="0">
              <a:buNone/>
            </a:pPr>
            <a:r>
              <a:rPr lang="en-US" sz="1350" b="1" dirty="0">
                <a:solidFill>
                  <a:srgbClr val="463838"/>
                </a:solidFill>
                <a:latin typeface="Calibri" pitchFamily="34" charset="0"/>
                <a:ea typeface="Calibri" pitchFamily="34" charset="-122"/>
                <a:cs typeface="Calibri" pitchFamily="34" charset="-120"/>
              </a:rPr>
              <a:t>Mon auto-évaluation</a:t>
            </a:r>
            <a:endParaRPr lang="en-US" sz="1350" dirty="0"/>
          </a:p>
        </p:txBody>
      </p:sp>
      <p:pic>
        <p:nvPicPr>
          <p:cNvPr id="18" name="Image 5" descr="/tmp/claude-1000/-home-mamadbah-projects-quantum/9b48bb23-8032-4c5a-8882-a173fed48246/scratchpad/assets/check-circle.png">    </p:cNvPr>
          <p:cNvPicPr>
            <a:picLocks noChangeAspect="1"/>
          </p:cNvPicPr>
          <p:nvPr/>
        </p:nvPicPr>
        <p:blipFill>
          <a:blip r:embed="rId6"/>
          <a:stretch>
            <a:fillRect/>
          </a:stretch>
        </p:blipFill>
        <p:spPr>
          <a:xfrm>
            <a:off x="7315200" y="3840480"/>
            <a:ext cx="201168" cy="201168"/>
          </a:xfrm>
          <a:prstGeom prst="rect">
            <a:avLst/>
          </a:prstGeom>
        </p:spPr>
      </p:pic>
      <p:sp>
        <p:nvSpPr>
          <p:cNvPr id="19" name="Text 11"/>
          <p:cNvSpPr/>
          <p:nvPr/>
        </p:nvSpPr>
        <p:spPr>
          <a:xfrm>
            <a:off x="7644384" y="3803904"/>
            <a:ext cx="3977640" cy="274320"/>
          </a:xfrm>
          <a:prstGeom prst="rect">
            <a:avLst/>
          </a:prstGeom>
          <a:noFill/>
          <a:ln/>
        </p:spPr>
        <p:txBody>
          <a:bodyPr wrap="square" lIns="0" tIns="0" rIns="0" bIns="0" rtlCol="0" anchor="ctr"/>
          <a:lstStyle/>
          <a:p>
            <a:pPr indent="0" marL="0">
              <a:buNone/>
            </a:pPr>
            <a:r>
              <a:rPr lang="en-US" sz="1350" b="1" dirty="0">
                <a:solidFill>
                  <a:srgbClr val="463838"/>
                </a:solidFill>
                <a:latin typeface="Calibri" pitchFamily="34" charset="0"/>
                <a:ea typeface="Calibri" pitchFamily="34" charset="-122"/>
                <a:cs typeface="Calibri" pitchFamily="34" charset="-120"/>
              </a:rPr>
              <a:t>Mes compétences &amp; formation</a:t>
            </a:r>
            <a:endParaRPr lang="en-US" sz="1350" dirty="0"/>
          </a:p>
        </p:txBody>
      </p:sp>
      <p:pic>
        <p:nvPicPr>
          <p:cNvPr id="20" name="Image 6" descr="/tmp/claude-1000/-home-mamadbah-projects-quantum/9b48bb23-8032-4c5a-8882-a173fed48246/scratchpad/assets/check-circle.png">    </p:cNvPr>
          <p:cNvPicPr>
            <a:picLocks noChangeAspect="1"/>
          </p:cNvPicPr>
          <p:nvPr/>
        </p:nvPicPr>
        <p:blipFill>
          <a:blip r:embed="rId7"/>
          <a:stretch>
            <a:fillRect/>
          </a:stretch>
        </p:blipFill>
        <p:spPr>
          <a:xfrm>
            <a:off x="7315200" y="4279392"/>
            <a:ext cx="201168" cy="201168"/>
          </a:xfrm>
          <a:prstGeom prst="rect">
            <a:avLst/>
          </a:prstGeom>
        </p:spPr>
      </p:pic>
      <p:sp>
        <p:nvSpPr>
          <p:cNvPr id="21" name="Text 12"/>
          <p:cNvSpPr/>
          <p:nvPr/>
        </p:nvSpPr>
        <p:spPr>
          <a:xfrm>
            <a:off x="7644384" y="4242816"/>
            <a:ext cx="3977640" cy="274320"/>
          </a:xfrm>
          <a:prstGeom prst="rect">
            <a:avLst/>
          </a:prstGeom>
          <a:noFill/>
          <a:ln/>
        </p:spPr>
        <p:txBody>
          <a:bodyPr wrap="square" lIns="0" tIns="0" rIns="0" bIns="0" rtlCol="0" anchor="ctr"/>
          <a:lstStyle/>
          <a:p>
            <a:pPr indent="0" marL="0">
              <a:buNone/>
            </a:pPr>
            <a:r>
              <a:rPr lang="en-US" sz="1350" b="1" dirty="0">
                <a:solidFill>
                  <a:srgbClr val="463838"/>
                </a:solidFill>
                <a:latin typeface="Calibri" pitchFamily="34" charset="0"/>
                <a:ea typeface="Calibri" pitchFamily="34" charset="-122"/>
                <a:cs typeface="Calibri" pitchFamily="34" charset="-120"/>
              </a:rPr>
              <a:t>Mon profil</a:t>
            </a:r>
            <a:endParaRPr lang="en-US" sz="1350" dirty="0"/>
          </a:p>
        </p:txBody>
      </p:sp>
      <p:sp>
        <p:nvSpPr>
          <p:cNvPr id="22" name="Shape 13"/>
          <p:cNvSpPr/>
          <p:nvPr/>
        </p:nvSpPr>
        <p:spPr>
          <a:xfrm>
            <a:off x="7315200" y="4663440"/>
            <a:ext cx="4306824" cy="1062355"/>
          </a:xfrm>
          <a:prstGeom prst="rect">
            <a:avLst/>
          </a:prstGeom>
          <a:solidFill>
            <a:srgbClr val="F7F6F3"/>
          </a:solidFill>
          <a:ln w="12700">
            <a:solidFill>
              <a:srgbClr val="E7E2DB"/>
            </a:solidFill>
            <a:prstDash val="solid"/>
          </a:ln>
        </p:spPr>
      </p:sp>
      <p:sp>
        <p:nvSpPr>
          <p:cNvPr id="23" name="Text 14"/>
          <p:cNvSpPr/>
          <p:nvPr/>
        </p:nvSpPr>
        <p:spPr>
          <a:xfrm>
            <a:off x="7516368" y="4828032"/>
            <a:ext cx="3904488" cy="201168"/>
          </a:xfrm>
          <a:prstGeom prst="rect">
            <a:avLst/>
          </a:prstGeom>
          <a:noFill/>
          <a:ln/>
        </p:spPr>
        <p:txBody>
          <a:bodyPr wrap="square" lIns="0" tIns="0" rIns="0" bIns="0" rtlCol="0" anchor="ctr"/>
          <a:lstStyle/>
          <a:p>
            <a:pPr indent="0" marL="0">
              <a:buNone/>
            </a:pPr>
            <a:r>
              <a:rPr lang="en-US" sz="1050" b="1" spc="80" kern="0" dirty="0">
                <a:solidFill>
                  <a:srgbClr val="F26322"/>
                </a:solidFill>
                <a:latin typeface="Arial" pitchFamily="34" charset="0"/>
                <a:ea typeface="Arial" pitchFamily="34" charset="-122"/>
                <a:cs typeface="Arial" pitchFamily="34" charset="-120"/>
              </a:rPr>
              <a:t>LE FIL NARRATIF</a:t>
            </a:r>
            <a:endParaRPr lang="en-US" sz="1050" dirty="0"/>
          </a:p>
        </p:txBody>
      </p:sp>
      <p:sp>
        <p:nvSpPr>
          <p:cNvPr id="24" name="Text 15"/>
          <p:cNvSpPr/>
          <p:nvPr/>
        </p:nvSpPr>
        <p:spPr>
          <a:xfrm>
            <a:off x="7516368" y="5102352"/>
            <a:ext cx="3904488" cy="458851"/>
          </a:xfrm>
          <a:prstGeom prst="rect">
            <a:avLst/>
          </a:prstGeom>
          <a:noFill/>
          <a:ln/>
        </p:spPr>
        <p:txBody>
          <a:bodyPr wrap="square" lIns="0" tIns="0" rIns="0" bIns="0" rtlCol="0" anchor="t"/>
          <a:lstStyle/>
          <a:p>
            <a:pPr indent="0" marL="0">
              <a:buNone/>
            </a:pPr>
            <a:r>
              <a:rPr lang="en-US" sz="1200" dirty="0">
                <a:solidFill>
                  <a:srgbClr val="463838"/>
                </a:solidFill>
                <a:latin typeface="Calibri" pitchFamily="34" charset="0"/>
                <a:ea typeface="Calibri" pitchFamily="34" charset="-122"/>
                <a:cs typeface="Calibri" pitchFamily="34" charset="-120"/>
              </a:rPr>
              <a:t>Anzoumana soumet ses objectifs ; ils remontent chez Mamadou, son manager, puis se consolident chez le RH Pays.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38912"/>
            <a:ext cx="8229600" cy="274320"/>
          </a:xfrm>
          <a:prstGeom prst="rect">
            <a:avLst/>
          </a:prstGeom>
          <a:noFill/>
          <a:ln/>
        </p:spPr>
        <p:txBody>
          <a:bodyPr wrap="square" lIns="0" tIns="0" rIns="0" bIns="0" rtlCol="0" anchor="ctr"/>
          <a:lstStyle/>
          <a:p>
            <a:pPr indent="0" marL="0">
              <a:buNone/>
            </a:pPr>
            <a:r>
              <a:rPr lang="en-US" sz="1200" b="1" spc="100" kern="0" dirty="0">
                <a:solidFill>
                  <a:srgbClr val="F26322"/>
                </a:solidFill>
                <a:latin typeface="Arial" pitchFamily="34" charset="0"/>
                <a:ea typeface="Arial" pitchFamily="34" charset="-122"/>
                <a:cs typeface="Arial" pitchFamily="34" charset="-120"/>
              </a:rPr>
              <a:t>PROCHAINES ÉTAPES</a:t>
            </a:r>
            <a:endParaRPr lang="en-US" sz="1200" dirty="0"/>
          </a:p>
        </p:txBody>
      </p:sp>
      <p:sp>
        <p:nvSpPr>
          <p:cNvPr id="3" name="Text 1"/>
          <p:cNvSpPr/>
          <p:nvPr/>
        </p:nvSpPr>
        <p:spPr>
          <a:xfrm>
            <a:off x="566928" y="713232"/>
            <a:ext cx="9509760" cy="640080"/>
          </a:xfrm>
          <a:prstGeom prst="rect">
            <a:avLst/>
          </a:prstGeom>
          <a:noFill/>
          <a:ln/>
        </p:spPr>
        <p:txBody>
          <a:bodyPr wrap="square" lIns="0" tIns="0" rIns="0" bIns="0" rtlCol="0" anchor="ctr"/>
          <a:lstStyle/>
          <a:p>
            <a:pPr indent="0" marL="0">
              <a:buNone/>
            </a:pPr>
            <a:r>
              <a:rPr lang="en-US" sz="2900" b="1" dirty="0">
                <a:solidFill>
                  <a:srgbClr val="463838"/>
                </a:solidFill>
                <a:latin typeface="Arial" pitchFamily="34" charset="0"/>
                <a:ea typeface="Arial" pitchFamily="34" charset="-122"/>
                <a:cs typeface="Arial" pitchFamily="34" charset="-120"/>
              </a:rPr>
              <a:t>Manager, puis RH Pays — et enfin les fondations</a:t>
            </a:r>
            <a:endParaRPr lang="en-US" sz="2900" dirty="0"/>
          </a:p>
        </p:txBody>
      </p:sp>
      <p:pic>
        <p:nvPicPr>
          <p:cNvPr id="4" name="Image 0" descr="/tmp/claude-1000/-home-mamadbah-projects-quantum/9b48bb23-8032-4c5a-8882-a173fed48246/scratchpad/assets/mark-light-slides.png">    </p:cNvPr>
          <p:cNvPicPr>
            <a:picLocks noChangeAspect="1"/>
          </p:cNvPicPr>
          <p:nvPr/>
        </p:nvPicPr>
        <p:blipFill>
          <a:blip r:embed="rId1"/>
          <a:stretch>
            <a:fillRect/>
          </a:stretch>
        </p:blipFill>
        <p:spPr>
          <a:xfrm>
            <a:off x="11055096" y="420624"/>
            <a:ext cx="594360" cy="566928"/>
          </a:xfrm>
          <a:prstGeom prst="rect">
            <a:avLst/>
          </a:prstGeom>
        </p:spPr>
      </p:pic>
      <p:sp>
        <p:nvSpPr>
          <p:cNvPr id="5" name="Text 2"/>
          <p:cNvSpPr/>
          <p:nvPr/>
        </p:nvSpPr>
        <p:spPr>
          <a:xfrm>
            <a:off x="566928" y="6400800"/>
            <a:ext cx="5486400" cy="228600"/>
          </a:xfrm>
          <a:prstGeom prst="rect">
            <a:avLst/>
          </a:prstGeom>
          <a:noFill/>
          <a:ln/>
        </p:spPr>
        <p:txBody>
          <a:bodyPr wrap="square" lIns="0" tIns="0" rIns="0" bIns="0" rtlCol="0" anchor="ctr"/>
          <a:lstStyle/>
          <a:p>
            <a:pPr algn="l" indent="0" marL="0">
              <a:buNone/>
            </a:pPr>
            <a:r>
              <a:rPr lang="en-US" sz="900" dirty="0">
                <a:solidFill>
                  <a:srgbClr val="8A817C"/>
                </a:solidFill>
                <a:latin typeface="Calibri" pitchFamily="34" charset="0"/>
                <a:ea typeface="Calibri" pitchFamily="34" charset="-122"/>
                <a:cs typeface="Calibri" pitchFamily="34" charset="-120"/>
              </a:rPr>
              <a:t>CORICA Talent Quantum</a:t>
            </a:r>
            <a:endParaRPr lang="en-US" sz="900" dirty="0"/>
          </a:p>
        </p:txBody>
      </p:sp>
      <p:sp>
        <p:nvSpPr>
          <p:cNvPr id="6" name="Text 3"/>
          <p:cNvSpPr/>
          <p:nvPr/>
        </p:nvSpPr>
        <p:spPr>
          <a:xfrm>
            <a:off x="7964424" y="6400800"/>
            <a:ext cx="3657600" cy="228600"/>
          </a:xfrm>
          <a:prstGeom prst="rect">
            <a:avLst/>
          </a:prstGeom>
          <a:noFill/>
          <a:ln/>
        </p:spPr>
        <p:txBody>
          <a:bodyPr wrap="square" lIns="0" tIns="0" rIns="0" bIns="0" rtlCol="0" anchor="ctr"/>
          <a:lstStyle/>
          <a:p>
            <a:pPr algn="r" indent="0" marL="0">
              <a:buNone/>
            </a:pPr>
            <a:r>
              <a:rPr lang="en-US" sz="900" dirty="0">
                <a:solidFill>
                  <a:srgbClr val="8A817C"/>
                </a:solidFill>
                <a:latin typeface="Calibri" pitchFamily="34" charset="0"/>
                <a:ea typeface="Calibri" pitchFamily="34" charset="-122"/>
                <a:cs typeface="Calibri" pitchFamily="34" charset="-120"/>
              </a:rPr>
              <a:t>Prochaines étapes   ·   5 / 5</a:t>
            </a:r>
            <a:endParaRPr lang="en-US" sz="900" dirty="0"/>
          </a:p>
        </p:txBody>
      </p:sp>
      <p:sp>
        <p:nvSpPr>
          <p:cNvPr id="7" name="Text 4"/>
          <p:cNvSpPr/>
          <p:nvPr/>
        </p:nvSpPr>
        <p:spPr>
          <a:xfrm>
            <a:off x="566928" y="1536192"/>
            <a:ext cx="10972800" cy="502920"/>
          </a:xfrm>
          <a:prstGeom prst="rect">
            <a:avLst/>
          </a:prstGeom>
          <a:noFill/>
          <a:ln/>
        </p:spPr>
        <p:txBody>
          <a:bodyPr wrap="square" lIns="0" tIns="0" rIns="0" bIns="0" rtlCol="0" anchor="t"/>
          <a:lstStyle/>
          <a:p>
            <a:pPr indent="0" marL="0">
              <a:buNone/>
            </a:pPr>
            <a:r>
              <a:rPr lang="en-US" sz="1550" dirty="0">
                <a:solidFill>
                  <a:srgbClr val="463838"/>
                </a:solidFill>
                <a:latin typeface="Calibri" pitchFamily="34" charset="0"/>
                <a:ea typeface="Calibri" pitchFamily="34" charset="-122"/>
                <a:cs typeface="Calibri" pitchFamily="34" charset="-120"/>
              </a:rPr>
              <a:t>On termine la démonstration métier avant d'attaquer le code de production.</a:t>
            </a:r>
            <a:endParaRPr lang="en-US" sz="1550" dirty="0"/>
          </a:p>
        </p:txBody>
      </p:sp>
      <p:sp>
        <p:nvSpPr>
          <p:cNvPr id="8" name="Shape 5"/>
          <p:cNvSpPr/>
          <p:nvPr/>
        </p:nvSpPr>
        <p:spPr>
          <a:xfrm>
            <a:off x="566928" y="2103120"/>
            <a:ext cx="3532632" cy="3017520"/>
          </a:xfrm>
          <a:prstGeom prst="rect">
            <a:avLst/>
          </a:prstGeom>
          <a:solidFill>
            <a:srgbClr val="FFFFFF"/>
          </a:solidFill>
          <a:ln w="12700">
            <a:solidFill>
              <a:srgbClr val="E7E2DB"/>
            </a:solidFill>
            <a:prstDash val="solid"/>
          </a:ln>
        </p:spPr>
      </p:sp>
      <p:sp>
        <p:nvSpPr>
          <p:cNvPr id="9" name="Shape 6"/>
          <p:cNvSpPr/>
          <p:nvPr/>
        </p:nvSpPr>
        <p:spPr>
          <a:xfrm>
            <a:off x="566928" y="2103120"/>
            <a:ext cx="3532632" cy="128016"/>
          </a:xfrm>
          <a:prstGeom prst="rect">
            <a:avLst/>
          </a:prstGeom>
          <a:solidFill>
            <a:srgbClr val="F26322"/>
          </a:solidFill>
          <a:ln/>
        </p:spPr>
      </p:sp>
      <p:sp>
        <p:nvSpPr>
          <p:cNvPr id="10" name="Shape 7"/>
          <p:cNvSpPr/>
          <p:nvPr/>
        </p:nvSpPr>
        <p:spPr>
          <a:xfrm>
            <a:off x="841248" y="2441448"/>
            <a:ext cx="731520" cy="731520"/>
          </a:xfrm>
          <a:prstGeom prst="ellipse">
            <a:avLst/>
          </a:prstGeom>
          <a:solidFill>
            <a:srgbClr val="F26322"/>
          </a:solidFill>
          <a:ln/>
        </p:spPr>
      </p:sp>
      <p:sp>
        <p:nvSpPr>
          <p:cNvPr id="11" name="Text 8"/>
          <p:cNvSpPr/>
          <p:nvPr/>
        </p:nvSpPr>
        <p:spPr>
          <a:xfrm>
            <a:off x="841248" y="2441448"/>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12" name="Text 9"/>
          <p:cNvSpPr/>
          <p:nvPr/>
        </p:nvSpPr>
        <p:spPr>
          <a:xfrm>
            <a:off x="1709928" y="2505456"/>
            <a:ext cx="2240280" cy="228600"/>
          </a:xfrm>
          <a:prstGeom prst="rect">
            <a:avLst/>
          </a:prstGeom>
          <a:noFill/>
          <a:ln/>
        </p:spPr>
        <p:txBody>
          <a:bodyPr wrap="square" lIns="0" tIns="0" rIns="0" bIns="0" rtlCol="0" anchor="ctr"/>
          <a:lstStyle/>
          <a:p>
            <a:pPr indent="0" marL="0">
              <a:buNone/>
            </a:pPr>
            <a:r>
              <a:rPr lang="en-US" sz="1050" b="1" spc="60" kern="0" dirty="0">
                <a:solidFill>
                  <a:srgbClr val="8A817C"/>
                </a:solidFill>
                <a:latin typeface="Arial" pitchFamily="34" charset="0"/>
                <a:ea typeface="Arial" pitchFamily="34" charset="-122"/>
                <a:cs typeface="Arial" pitchFamily="34" charset="-120"/>
              </a:rPr>
              <a:t>MAQUETTE</a:t>
            </a:r>
            <a:endParaRPr lang="en-US" sz="1050" dirty="0"/>
          </a:p>
        </p:txBody>
      </p:sp>
      <p:sp>
        <p:nvSpPr>
          <p:cNvPr id="13" name="Text 10"/>
          <p:cNvSpPr/>
          <p:nvPr/>
        </p:nvSpPr>
        <p:spPr>
          <a:xfrm>
            <a:off x="1709928" y="2715768"/>
            <a:ext cx="2240280" cy="457200"/>
          </a:xfrm>
          <a:prstGeom prst="rect">
            <a:avLst/>
          </a:prstGeom>
          <a:noFill/>
          <a:ln/>
        </p:spPr>
        <p:txBody>
          <a:bodyPr wrap="square" lIns="0" tIns="0" rIns="0" bIns="0" rtlCol="0" anchor="ctr"/>
          <a:lstStyle/>
          <a:p>
            <a:pPr indent="0" marL="0">
              <a:buNone/>
            </a:pPr>
            <a:r>
              <a:rPr lang="en-US" sz="1500" b="1" dirty="0">
                <a:solidFill>
                  <a:srgbClr val="463838"/>
                </a:solidFill>
                <a:latin typeface="Arial" pitchFamily="34" charset="0"/>
                <a:ea typeface="Arial" pitchFamily="34" charset="-122"/>
                <a:cs typeface="Arial" pitchFamily="34" charset="-120"/>
              </a:rPr>
              <a:t>Manager N+1</a:t>
            </a:r>
            <a:endParaRPr lang="en-US" sz="1500" dirty="0"/>
          </a:p>
        </p:txBody>
      </p:sp>
      <p:sp>
        <p:nvSpPr>
          <p:cNvPr id="14" name="Text 11"/>
          <p:cNvSpPr/>
          <p:nvPr/>
        </p:nvSpPr>
        <p:spPr>
          <a:xfrm>
            <a:off x="859536" y="3383280"/>
            <a:ext cx="3017520" cy="1097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Valider les objectifs de l'équipe</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Évaluer ses 9 collaborateurs</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Préparer la calibration N+2</a:t>
            </a:r>
            <a:endParaRPr lang="en-US" sz="1250" dirty="0"/>
          </a:p>
        </p:txBody>
      </p:sp>
      <p:sp>
        <p:nvSpPr>
          <p:cNvPr id="15" name="Shape 12"/>
          <p:cNvSpPr/>
          <p:nvPr/>
        </p:nvSpPr>
        <p:spPr>
          <a:xfrm>
            <a:off x="859536" y="4572000"/>
            <a:ext cx="2926080" cy="411480"/>
          </a:xfrm>
          <a:prstGeom prst="rect">
            <a:avLst/>
          </a:prstGeom>
          <a:solidFill>
            <a:srgbClr val="FADFD1"/>
          </a:solidFill>
          <a:ln/>
        </p:spPr>
      </p:sp>
      <p:sp>
        <p:nvSpPr>
          <p:cNvPr id="16" name="Text 13"/>
          <p:cNvSpPr/>
          <p:nvPr/>
        </p:nvSpPr>
        <p:spPr>
          <a:xfrm>
            <a:off x="859536" y="4572000"/>
            <a:ext cx="2926080" cy="411480"/>
          </a:xfrm>
          <a:prstGeom prst="rect">
            <a:avLst/>
          </a:prstGeom>
          <a:noFill/>
          <a:ln/>
        </p:spPr>
        <p:txBody>
          <a:bodyPr wrap="square" lIns="0" tIns="0" rIns="0" bIns="0" rtlCol="0" anchor="ctr"/>
          <a:lstStyle/>
          <a:p>
            <a:pPr algn="ctr" indent="0" marL="0">
              <a:buNone/>
            </a:pPr>
            <a:r>
              <a:rPr lang="en-US" sz="1150" b="1" dirty="0">
                <a:solidFill>
                  <a:srgbClr val="F26322"/>
                </a:solidFill>
                <a:latin typeface="Calibri" pitchFamily="34" charset="0"/>
                <a:ea typeface="Calibri" pitchFamily="34" charset="-122"/>
                <a:cs typeface="Calibri" pitchFamily="34" charset="-120"/>
              </a:rPr>
              <a:t>prochain livrable</a:t>
            </a:r>
            <a:endParaRPr lang="en-US" sz="1150" dirty="0"/>
          </a:p>
        </p:txBody>
      </p:sp>
      <p:sp>
        <p:nvSpPr>
          <p:cNvPr id="17" name="Shape 14"/>
          <p:cNvSpPr/>
          <p:nvPr/>
        </p:nvSpPr>
        <p:spPr>
          <a:xfrm>
            <a:off x="4328160" y="2103120"/>
            <a:ext cx="3532632" cy="3017520"/>
          </a:xfrm>
          <a:prstGeom prst="rect">
            <a:avLst/>
          </a:prstGeom>
          <a:solidFill>
            <a:srgbClr val="FFFFFF"/>
          </a:solidFill>
          <a:ln w="12700">
            <a:solidFill>
              <a:srgbClr val="E7E2DB"/>
            </a:solidFill>
            <a:prstDash val="solid"/>
          </a:ln>
        </p:spPr>
      </p:sp>
      <p:sp>
        <p:nvSpPr>
          <p:cNvPr id="18" name="Shape 15"/>
          <p:cNvSpPr/>
          <p:nvPr/>
        </p:nvSpPr>
        <p:spPr>
          <a:xfrm>
            <a:off x="4328160" y="2103120"/>
            <a:ext cx="3532632" cy="128016"/>
          </a:xfrm>
          <a:prstGeom prst="rect">
            <a:avLst/>
          </a:prstGeom>
          <a:solidFill>
            <a:srgbClr val="463838"/>
          </a:solidFill>
          <a:ln/>
        </p:spPr>
      </p:sp>
      <p:sp>
        <p:nvSpPr>
          <p:cNvPr id="19" name="Shape 16"/>
          <p:cNvSpPr/>
          <p:nvPr/>
        </p:nvSpPr>
        <p:spPr>
          <a:xfrm>
            <a:off x="4602480" y="2441448"/>
            <a:ext cx="731520" cy="731520"/>
          </a:xfrm>
          <a:prstGeom prst="ellipse">
            <a:avLst/>
          </a:prstGeom>
          <a:solidFill>
            <a:srgbClr val="463838"/>
          </a:solidFill>
          <a:ln/>
        </p:spPr>
      </p:sp>
      <p:sp>
        <p:nvSpPr>
          <p:cNvPr id="20" name="Text 17"/>
          <p:cNvSpPr/>
          <p:nvPr/>
        </p:nvSpPr>
        <p:spPr>
          <a:xfrm>
            <a:off x="4602480" y="2441448"/>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21" name="Text 18"/>
          <p:cNvSpPr/>
          <p:nvPr/>
        </p:nvSpPr>
        <p:spPr>
          <a:xfrm>
            <a:off x="5471160" y="2505456"/>
            <a:ext cx="2240280" cy="228600"/>
          </a:xfrm>
          <a:prstGeom prst="rect">
            <a:avLst/>
          </a:prstGeom>
          <a:noFill/>
          <a:ln/>
        </p:spPr>
        <p:txBody>
          <a:bodyPr wrap="square" lIns="0" tIns="0" rIns="0" bIns="0" rtlCol="0" anchor="ctr"/>
          <a:lstStyle/>
          <a:p>
            <a:pPr indent="0" marL="0">
              <a:buNone/>
            </a:pPr>
            <a:r>
              <a:rPr lang="en-US" sz="1050" b="1" spc="60" kern="0" dirty="0">
                <a:solidFill>
                  <a:srgbClr val="8A817C"/>
                </a:solidFill>
                <a:latin typeface="Arial" pitchFamily="34" charset="0"/>
                <a:ea typeface="Arial" pitchFamily="34" charset="-122"/>
                <a:cs typeface="Arial" pitchFamily="34" charset="-120"/>
              </a:rPr>
              <a:t>MAQUETTE</a:t>
            </a:r>
            <a:endParaRPr lang="en-US" sz="1050" dirty="0"/>
          </a:p>
        </p:txBody>
      </p:sp>
      <p:sp>
        <p:nvSpPr>
          <p:cNvPr id="22" name="Text 19"/>
          <p:cNvSpPr/>
          <p:nvPr/>
        </p:nvSpPr>
        <p:spPr>
          <a:xfrm>
            <a:off x="5471160" y="2715768"/>
            <a:ext cx="2240280" cy="457200"/>
          </a:xfrm>
          <a:prstGeom prst="rect">
            <a:avLst/>
          </a:prstGeom>
          <a:noFill/>
          <a:ln/>
        </p:spPr>
        <p:txBody>
          <a:bodyPr wrap="square" lIns="0" tIns="0" rIns="0" bIns="0" rtlCol="0" anchor="ctr"/>
          <a:lstStyle/>
          <a:p>
            <a:pPr indent="0" marL="0">
              <a:buNone/>
            </a:pPr>
            <a:r>
              <a:rPr lang="en-US" sz="1500" b="1" dirty="0">
                <a:solidFill>
                  <a:srgbClr val="463838"/>
                </a:solidFill>
                <a:latin typeface="Arial" pitchFamily="34" charset="0"/>
                <a:ea typeface="Arial" pitchFamily="34" charset="-122"/>
                <a:cs typeface="Arial" pitchFamily="34" charset="-120"/>
              </a:rPr>
              <a:t>RH Pays</a:t>
            </a:r>
            <a:endParaRPr lang="en-US" sz="1500" dirty="0"/>
          </a:p>
        </p:txBody>
      </p:sp>
      <p:sp>
        <p:nvSpPr>
          <p:cNvPr id="23" name="Text 20"/>
          <p:cNvSpPr/>
          <p:nvPr/>
        </p:nvSpPr>
        <p:spPr>
          <a:xfrm>
            <a:off x="4620768" y="3383280"/>
            <a:ext cx="3017520" cy="1097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Piloter la campagne nationale</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Consolider les 4 sites du pays</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Cartographier les talents (9-box)</a:t>
            </a:r>
            <a:endParaRPr lang="en-US" sz="1250" dirty="0"/>
          </a:p>
        </p:txBody>
      </p:sp>
      <p:sp>
        <p:nvSpPr>
          <p:cNvPr id="24" name="Shape 21"/>
          <p:cNvSpPr/>
          <p:nvPr/>
        </p:nvSpPr>
        <p:spPr>
          <a:xfrm>
            <a:off x="4620768" y="4572000"/>
            <a:ext cx="2926080" cy="411480"/>
          </a:xfrm>
          <a:prstGeom prst="rect">
            <a:avLst/>
          </a:prstGeom>
          <a:solidFill>
            <a:srgbClr val="F0EAE2"/>
          </a:solidFill>
          <a:ln/>
        </p:spPr>
      </p:sp>
      <p:sp>
        <p:nvSpPr>
          <p:cNvPr id="25" name="Text 22"/>
          <p:cNvSpPr/>
          <p:nvPr/>
        </p:nvSpPr>
        <p:spPr>
          <a:xfrm>
            <a:off x="4620768" y="4572000"/>
            <a:ext cx="2926080" cy="411480"/>
          </a:xfrm>
          <a:prstGeom prst="rect">
            <a:avLst/>
          </a:prstGeom>
          <a:noFill/>
          <a:ln/>
        </p:spPr>
        <p:txBody>
          <a:bodyPr wrap="square" lIns="0" tIns="0" rIns="0" bIns="0" rtlCol="0" anchor="ctr"/>
          <a:lstStyle/>
          <a:p>
            <a:pPr algn="ctr" indent="0" marL="0">
              <a:buNone/>
            </a:pPr>
            <a:r>
              <a:rPr lang="en-US" sz="1150" b="1" dirty="0">
                <a:solidFill>
                  <a:srgbClr val="463838"/>
                </a:solidFill>
                <a:latin typeface="Calibri" pitchFamily="34" charset="0"/>
                <a:ea typeface="Calibri" pitchFamily="34" charset="-122"/>
                <a:cs typeface="Calibri" pitchFamily="34" charset="-120"/>
              </a:rPr>
              <a:t>à suivre</a:t>
            </a:r>
            <a:endParaRPr lang="en-US" sz="1150" dirty="0"/>
          </a:p>
        </p:txBody>
      </p:sp>
      <p:sp>
        <p:nvSpPr>
          <p:cNvPr id="26" name="Shape 23"/>
          <p:cNvSpPr/>
          <p:nvPr/>
        </p:nvSpPr>
        <p:spPr>
          <a:xfrm>
            <a:off x="8089392" y="2103120"/>
            <a:ext cx="3532632" cy="3017520"/>
          </a:xfrm>
          <a:prstGeom prst="rect">
            <a:avLst/>
          </a:prstGeom>
          <a:solidFill>
            <a:srgbClr val="FFFFFF"/>
          </a:solidFill>
          <a:ln w="12700">
            <a:solidFill>
              <a:srgbClr val="E7E2DB"/>
            </a:solidFill>
            <a:prstDash val="solid"/>
          </a:ln>
        </p:spPr>
      </p:sp>
      <p:sp>
        <p:nvSpPr>
          <p:cNvPr id="27" name="Shape 24"/>
          <p:cNvSpPr/>
          <p:nvPr/>
        </p:nvSpPr>
        <p:spPr>
          <a:xfrm>
            <a:off x="8089392" y="2103120"/>
            <a:ext cx="3532632" cy="128016"/>
          </a:xfrm>
          <a:prstGeom prst="rect">
            <a:avLst/>
          </a:prstGeom>
          <a:solidFill>
            <a:srgbClr val="463838"/>
          </a:solidFill>
          <a:ln/>
        </p:spPr>
      </p:sp>
      <p:sp>
        <p:nvSpPr>
          <p:cNvPr id="28" name="Shape 25"/>
          <p:cNvSpPr/>
          <p:nvPr/>
        </p:nvSpPr>
        <p:spPr>
          <a:xfrm>
            <a:off x="8363712" y="2441448"/>
            <a:ext cx="731520" cy="731520"/>
          </a:xfrm>
          <a:prstGeom prst="ellipse">
            <a:avLst/>
          </a:prstGeom>
          <a:solidFill>
            <a:srgbClr val="463838"/>
          </a:solidFill>
          <a:ln/>
        </p:spPr>
      </p:sp>
      <p:sp>
        <p:nvSpPr>
          <p:cNvPr id="29" name="Text 26"/>
          <p:cNvSpPr/>
          <p:nvPr/>
        </p:nvSpPr>
        <p:spPr>
          <a:xfrm>
            <a:off x="8363712" y="2441448"/>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30" name="Text 27"/>
          <p:cNvSpPr/>
          <p:nvPr/>
        </p:nvSpPr>
        <p:spPr>
          <a:xfrm>
            <a:off x="9232392" y="2505456"/>
            <a:ext cx="2240280" cy="228600"/>
          </a:xfrm>
          <a:prstGeom prst="rect">
            <a:avLst/>
          </a:prstGeom>
          <a:noFill/>
          <a:ln/>
        </p:spPr>
        <p:txBody>
          <a:bodyPr wrap="square" lIns="0" tIns="0" rIns="0" bIns="0" rtlCol="0" anchor="ctr"/>
          <a:lstStyle/>
          <a:p>
            <a:pPr indent="0" marL="0">
              <a:buNone/>
            </a:pPr>
            <a:r>
              <a:rPr lang="en-US" sz="1050" b="1" spc="60" kern="0" dirty="0">
                <a:solidFill>
                  <a:srgbClr val="8A817C"/>
                </a:solidFill>
                <a:latin typeface="Arial" pitchFamily="34" charset="0"/>
                <a:ea typeface="Arial" pitchFamily="34" charset="-122"/>
                <a:cs typeface="Arial" pitchFamily="34" charset="-120"/>
              </a:rPr>
              <a:t>DÉVELOPPEMENT</a:t>
            </a:r>
            <a:endParaRPr lang="en-US" sz="1050" dirty="0"/>
          </a:p>
        </p:txBody>
      </p:sp>
      <p:sp>
        <p:nvSpPr>
          <p:cNvPr id="31" name="Text 28"/>
          <p:cNvSpPr/>
          <p:nvPr/>
        </p:nvSpPr>
        <p:spPr>
          <a:xfrm>
            <a:off x="9232392" y="2715768"/>
            <a:ext cx="2240280" cy="457200"/>
          </a:xfrm>
          <a:prstGeom prst="rect">
            <a:avLst/>
          </a:prstGeom>
          <a:noFill/>
          <a:ln/>
        </p:spPr>
        <p:txBody>
          <a:bodyPr wrap="square" lIns="0" tIns="0" rIns="0" bIns="0" rtlCol="0" anchor="ctr"/>
          <a:lstStyle/>
          <a:p>
            <a:pPr indent="0" marL="0">
              <a:buNone/>
            </a:pPr>
            <a:r>
              <a:rPr lang="en-US" sz="1500" b="1" dirty="0">
                <a:solidFill>
                  <a:srgbClr val="463838"/>
                </a:solidFill>
                <a:latin typeface="Arial" pitchFamily="34" charset="0"/>
                <a:ea typeface="Arial" pitchFamily="34" charset="-122"/>
                <a:cs typeface="Arial" pitchFamily="34" charset="-120"/>
              </a:rPr>
              <a:t>Construction de l'app</a:t>
            </a:r>
            <a:endParaRPr lang="en-US" sz="1500" dirty="0"/>
          </a:p>
        </p:txBody>
      </p:sp>
      <p:sp>
        <p:nvSpPr>
          <p:cNvPr id="32" name="Text 29"/>
          <p:cNvSpPr/>
          <p:nvPr/>
        </p:nvSpPr>
        <p:spPr>
          <a:xfrm>
            <a:off x="8382000" y="3383280"/>
            <a:ext cx="3017520" cy="1097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Backend FastAPI + PostgreSQL</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RBAC serveur &amp; journal d'audit</a:t>
            </a:r>
            <a:endParaRPr lang="en-US" sz="1250" dirty="0"/>
          </a:p>
          <a:p>
            <a:pPr marL="342900" indent="-342900">
              <a:spcAft>
                <a:spcPts val="600"/>
              </a:spcAft>
              <a:buSzPct val="100000"/>
              <a:buChar char="•"/>
            </a:pPr>
            <a:r>
              <a:rPr lang="en-US" sz="1250" dirty="0">
                <a:solidFill>
                  <a:srgbClr val="463838"/>
                </a:solidFill>
                <a:latin typeface="Calibri" pitchFamily="34" charset="0"/>
                <a:ea typeface="Calibri" pitchFamily="34" charset="-122"/>
                <a:cs typeface="Calibri" pitchFamily="34" charset="-120"/>
              </a:rPr>
              <a:t>Montée à l'échelle : 5 000 employés</a:t>
            </a:r>
            <a:endParaRPr lang="en-US" sz="1250" dirty="0"/>
          </a:p>
        </p:txBody>
      </p:sp>
      <p:sp>
        <p:nvSpPr>
          <p:cNvPr id="33" name="Shape 30"/>
          <p:cNvSpPr/>
          <p:nvPr/>
        </p:nvSpPr>
        <p:spPr>
          <a:xfrm>
            <a:off x="8382000" y="4572000"/>
            <a:ext cx="2926080" cy="411480"/>
          </a:xfrm>
          <a:prstGeom prst="rect">
            <a:avLst/>
          </a:prstGeom>
          <a:solidFill>
            <a:srgbClr val="F0EAE2"/>
          </a:solidFill>
          <a:ln/>
        </p:spPr>
      </p:sp>
      <p:sp>
        <p:nvSpPr>
          <p:cNvPr id="34" name="Text 31"/>
          <p:cNvSpPr/>
          <p:nvPr/>
        </p:nvSpPr>
        <p:spPr>
          <a:xfrm>
            <a:off x="8382000" y="4572000"/>
            <a:ext cx="2926080" cy="411480"/>
          </a:xfrm>
          <a:prstGeom prst="rect">
            <a:avLst/>
          </a:prstGeom>
          <a:noFill/>
          <a:ln/>
        </p:spPr>
        <p:txBody>
          <a:bodyPr wrap="square" lIns="0" tIns="0" rIns="0" bIns="0" rtlCol="0" anchor="ctr"/>
          <a:lstStyle/>
          <a:p>
            <a:pPr algn="ctr" indent="0" marL="0">
              <a:buNone/>
            </a:pPr>
            <a:r>
              <a:rPr lang="en-US" sz="1150" b="1" dirty="0">
                <a:solidFill>
                  <a:srgbClr val="463838"/>
                </a:solidFill>
                <a:latin typeface="Calibri" pitchFamily="34" charset="0"/>
                <a:ea typeface="Calibri" pitchFamily="34" charset="-122"/>
                <a:cs typeface="Calibri" pitchFamily="34" charset="-120"/>
              </a:rPr>
              <a:t>le gros du chantier</a:t>
            </a:r>
            <a:endParaRPr lang="en-US" sz="1150" dirty="0"/>
          </a:p>
        </p:txBody>
      </p:sp>
      <p:sp>
        <p:nvSpPr>
          <p:cNvPr id="35" name="Shape 32"/>
          <p:cNvSpPr/>
          <p:nvPr/>
        </p:nvSpPr>
        <p:spPr>
          <a:xfrm>
            <a:off x="566928" y="5349240"/>
            <a:ext cx="11055096" cy="822960"/>
          </a:xfrm>
          <a:prstGeom prst="rect">
            <a:avLst/>
          </a:prstGeom>
          <a:solidFill>
            <a:srgbClr val="463838"/>
          </a:solidFill>
          <a:ln/>
        </p:spPr>
      </p:sp>
      <p:sp>
        <p:nvSpPr>
          <p:cNvPr id="36" name="Shape 33"/>
          <p:cNvSpPr/>
          <p:nvPr/>
        </p:nvSpPr>
        <p:spPr>
          <a:xfrm>
            <a:off x="566928" y="5349240"/>
            <a:ext cx="109728" cy="822960"/>
          </a:xfrm>
          <a:prstGeom prst="rect">
            <a:avLst/>
          </a:prstGeom>
          <a:solidFill>
            <a:srgbClr val="F26322"/>
          </a:solidFill>
          <a:ln/>
        </p:spPr>
      </p:sp>
      <p:sp>
        <p:nvSpPr>
          <p:cNvPr id="37" name="Text 34"/>
          <p:cNvSpPr/>
          <p:nvPr/>
        </p:nvSpPr>
        <p:spPr>
          <a:xfrm>
            <a:off x="932688" y="5486400"/>
            <a:ext cx="10424160" cy="347472"/>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Individu  →  Équipe  →  Organisation : les trois rôles couvrent toute la chaîne.</a:t>
            </a:r>
            <a:endParaRPr lang="en-US" sz="1550" dirty="0"/>
          </a:p>
        </p:txBody>
      </p:sp>
      <p:sp>
        <p:nvSpPr>
          <p:cNvPr id="38" name="Text 35"/>
          <p:cNvSpPr/>
          <p:nvPr/>
        </p:nvSpPr>
        <p:spPr>
          <a:xfrm>
            <a:off x="932688" y="5861304"/>
            <a:ext cx="10424160" cy="237744"/>
          </a:xfrm>
          <a:prstGeom prst="rect">
            <a:avLst/>
          </a:prstGeom>
          <a:noFill/>
          <a:ln/>
        </p:spPr>
        <p:txBody>
          <a:bodyPr wrap="square" lIns="0" tIns="0" rIns="0" bIns="0" rtlCol="0" anchor="t"/>
          <a:lstStyle/>
          <a:p>
            <a:pPr indent="0" marL="0">
              <a:buNone/>
            </a:pPr>
            <a:r>
              <a:rPr lang="en-US" sz="1250" dirty="0">
                <a:solidFill>
                  <a:srgbClr val="E4DBD5"/>
                </a:solidFill>
                <a:latin typeface="Calibri" pitchFamily="34" charset="0"/>
                <a:ea typeface="Calibri" pitchFamily="34" charset="-122"/>
                <a:cs typeface="Calibri" pitchFamily="34" charset="-120"/>
              </a:rPr>
              <a:t>Une fois les trois parcours maquettés, l'interface est figée — le backend peut alors se construire sur une cible stable.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CORICA Talent Quantum — Point d'avancement</dc:title>
  <dc:subject>PptxGenJS Presentation</dc:subject>
  <dc:creator>CORICA Talent Quantum</dc:creator>
  <cp:lastModifiedBy>CORICA Talent Quantum</cp:lastModifiedBy>
  <cp:revision>1</cp:revision>
  <dcterms:created xsi:type="dcterms:W3CDTF">2026-07-15T10:43:36Z</dcterms:created>
  <dcterms:modified xsi:type="dcterms:W3CDTF">2026-07-15T10:43:36Z</dcterms:modified>
</cp:coreProperties>
</file>